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610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intro: who we are, which hackathon. Don't explain the film yet. Say: "We'll first show you the film, then tell you who it's for and how we made it." Then go straight to the film.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film before anything else (the brief asks for this). Full screen, sound on. Let the last question sit for two seconds of silence before you go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lockdowns of spring 2020 cut traffic, flights and industry, so emissions and noise fell and wildlife moved differently. Where: we focus on Europe (one old-town street, a European forest road). When: spring 2020, and the rebound by the end of 2020. How big: global CO2 down 17% in early April 2020; Portugal's greenhouse gases down 8.5% for the year. Tucker et al.: under strict lockdowns mammals' long-distance movements rose 73%, and in busy areas they came 36% closer to roads. Be honest: the average change across all animals was zero, and the CO2 gain was gone by December 2020. That temporary effect is exactly our story.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SDG 13 has three targets: 13.1 resilience, 13.2 climate in national policy, 13.3 education and awareness. Our film is about one concrete issue: the short drop in emissions and human pressure on nature during the European lockdowns, set against the EU target of at least 55% less net emissions by 2030. The EEA says the EU was at minus 36% in 2023 and expects minus 54% with every planned measure. So even on paper we fall short. That's why the film ends on a question, not an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one audience, what they already believe, and who it's not for. Our audience knows COVID from their own life: restrictions, loss. They have never seen the other side. Placement: say where it would run and why that reaches them. Fill this in before Friday and make sure it matches the README.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shot list quickly. The same street, at the same eye-level angle, comes back in shots 1, 2, 7 and 8, so the audience can compare without thinking. The ending is a cliffhanger on purpose: the split screen fades to black before either future wins, then the two questions on black.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grades the workflow as the prototype. Our pipeline: a written shot list with one prompt, duration and seed per shot goes into the MiniMax H3 text-to-video workflow in ComfyUI, running locally on an RTX 4070 Super. Drafts used the 8-step turbo LoRA; finals were rendered at full quality. The voice-over is made with Kokoro, a free local text-to-speech model inside ComfyUI, because third-party AI voice tools are not allowed. Anyone can regenerate any shot from the workflow JSON plus the seed and settings in our shot list. If time allows, show the workflow live and regenerate one shot.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audience: they are the majority, they vote, and their idea of 2020 is only negative. If they see that society changed course within weeks, "too big to change" stops being an excuse. Why this form: a short, quiet film with one recurring street fits a social feed and needs no prior knowledge. The cliffhanger is the call to action.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asks for risks specific to this film. The biggest is tone: a film about the good side of COVID can feel like it celebrates deaths. That's why shot 2 names loss first. Second, the science is mixed: Tucker et al. found no change on average, only under strict lockdowns and near busy areas, and Fiske et al. show the CO2 gain was gone by December 2020. Our film shows the effect disappearing. Third, our footage looks real but is AI-generated, so we label it. Fiske et al. also warn that the "Anthropause" idea hides who had to keep working. Check the two bracketed rows before Friday.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drafts based on how the project went. Replace or add your own. Good extra point if true for you: the rules shaped the tools, since no third-party AI voices pushed us to a local text-to-speech model inside ComfyUI.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needed if someone asks. The CO2 and Portugal figures come from Fiske et al., which cites the underlying studies.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film's last line, then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1161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9948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EEEBE2"/>
                </a:solidFill>
                <a:latin typeface="Instrument Serif" pitchFamily="34" charset="0"/>
                <a:ea typeface="Instrument Serif" pitchFamily="34" charset="-122"/>
                <a:cs typeface="Instrument Serif"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207121"/>
            <a:ext cx="10566400" cy="3838079"/>
          </a:xfrm>
          <a:prstGeom prst="rect">
            <a:avLst/>
          </a:prstGeom>
          <a:noFill/>
          <a:ln/>
        </p:spPr>
        <p:txBody>
          <a:bodyPr wrap="square" lIns="0" tIns="0" rIns="0" bIns="0" rtlCol="0" anchor="t"/>
          <a:lstStyle>
            <a:lvl1pPr marL="0" indent="0" algn="l">
              <a:lnSpc>
                <a:spcPct val="140000"/>
              </a:lnSpc>
              <a:buNone/>
              <a:defRPr lang="en-US" sz="1600" dirty="0">
                <a:solidFill>
                  <a:srgbClr val="EEEBE2"/>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1613"/>
        </a:solidFill>
        <a:effectLst/>
      </p:bgPr>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youtu.be/VAcPg8OOOgk"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science.org/doi/10.1126/science.abo6499" TargetMode="External"/><Relationship Id="rId7" Type="http://schemas.openxmlformats.org/officeDocument/2006/relationships/hyperlink" Target="https://climate.ec.europa.eu/eu-action/european-climate-law_en"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www.eea.europa.eu/en/analysis/indicators/total-greenhouse-gas-emission-trends" TargetMode="External"/><Relationship Id="rId5" Type="http://schemas.openxmlformats.org/officeDocument/2006/relationships/hyperlink" Target="https://sdgs.un.org/goals/goal13#targets_and_indicators" TargetMode="External"/><Relationship Id="rId4" Type="http://schemas.openxmlformats.org/officeDocument/2006/relationships/hyperlink" Target="https://journals.sagepub.com/doi/10.1177/25148486231221017"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61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8DC891"/>
                </a:solidFill>
                <a:latin typeface="DM Sans" pitchFamily="34" charset="0"/>
                <a:ea typeface="DM Sans" pitchFamily="34" charset="-122"/>
                <a:cs typeface="DM Sans" pitchFamily="34" charset="-120"/>
              </a:rPr>
              <a:t>HACKATHON 4 · PICTURE THE PLANET · SDG 13 CLIMATE ACTION</a:t>
            </a:r>
            <a:endParaRPr lang="en-US" sz="1300" dirty="0"/>
          </a:p>
        </p:txBody>
      </p:sp>
      <p:sp>
        <p:nvSpPr>
          <p:cNvPr id="3" name="Text 1"/>
          <p:cNvSpPr>
            <a:spLocks noGrp="1"/>
          </p:cNvSpPr>
          <p:nvPr>
            <p:ph type="title"/>
          </p:nvPr>
        </p:nvSpPr>
        <p:spPr>
          <a:xfrm>
            <a:off x="812800" y="2415580"/>
            <a:ext cx="10883392" cy="1422400"/>
          </a:xfrm>
          <a:prstGeom prst="rect">
            <a:avLst/>
          </a:prstGeom>
          <a:noFill/>
          <a:ln/>
        </p:spPr>
        <p:txBody>
          <a:bodyPr wrap="square" lIns="0" tIns="0" rIns="0" bIns="0" rtlCol="0" anchor="t">
            <a:normAutofit/>
          </a:bodyPr>
          <a:lstStyle/>
          <a:p>
            <a:pPr marL="0" indent="0" algn="l">
              <a:lnSpc>
                <a:spcPts val="11000"/>
              </a:lnSpc>
              <a:buNone/>
            </a:pPr>
            <a:r>
              <a:rPr lang="en-US" sz="11000" b="0" i="0" dirty="0">
                <a:solidFill>
                  <a:srgbClr val="EEEBE2"/>
                </a:solidFill>
                <a:latin typeface="Instrument Serif" pitchFamily="18" charset="0"/>
                <a:ea typeface="Instrument Serif" pitchFamily="18" charset="-122"/>
                <a:cs typeface="Instrument Serif" pitchFamily="18" charset="-120"/>
              </a:rPr>
              <a:t>The Pause</a:t>
            </a:r>
            <a:endParaRPr lang="en-US" sz="11000" dirty="0"/>
          </a:p>
        </p:txBody>
      </p:sp>
      <p:sp>
        <p:nvSpPr>
          <p:cNvPr id="4" name="Text 2"/>
          <p:cNvSpPr/>
          <p:nvPr/>
        </p:nvSpPr>
        <p:spPr>
          <a:xfrm>
            <a:off x="812800" y="4015780"/>
            <a:ext cx="10883392" cy="452041"/>
          </a:xfrm>
          <a:prstGeom prst="rect">
            <a:avLst/>
          </a:prstGeom>
          <a:noFill/>
          <a:ln/>
        </p:spPr>
        <p:txBody>
          <a:bodyPr wrap="square" lIns="0" tIns="0" rIns="0" bIns="0" rtlCol="0" anchor="t">
            <a:normAutofit/>
          </a:bodyPr>
          <a:lstStyle/>
          <a:p>
            <a:pPr marL="0" indent="0" algn="l">
              <a:lnSpc>
                <a:spcPts val="3360"/>
              </a:lnSpc>
              <a:buNone/>
            </a:pPr>
            <a:r>
              <a:rPr lang="en-US" sz="2800" i="1" dirty="0">
                <a:solidFill>
                  <a:srgbClr val="A9B5AE"/>
                </a:solidFill>
                <a:latin typeface="Instrument Serif" pitchFamily="18" charset="0"/>
                <a:ea typeface="Instrument Serif" pitchFamily="18" charset="-122"/>
                <a:cs typeface="Instrument Serif" pitchFamily="18" charset="-120"/>
              </a:rPr>
              <a:t>What if the pause had become a transition?</a:t>
            </a:r>
            <a:endParaRPr lang="en-US" sz="2800" dirty="0"/>
          </a:p>
        </p:txBody>
      </p:sp>
      <p:sp>
        <p:nvSpPr>
          <p:cNvPr id="5" name="Text 3"/>
          <p:cNvSpPr/>
          <p:nvPr/>
        </p:nvSpPr>
        <p:spPr>
          <a:xfrm>
            <a:off x="812800" y="5814120"/>
            <a:ext cx="10883392" cy="25648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A9B5AE"/>
                </a:solidFill>
                <a:latin typeface="DM Sans" pitchFamily="34" charset="0"/>
                <a:ea typeface="DM Sans" pitchFamily="34" charset="-122"/>
                <a:cs typeface="DM Sans" pitchFamily="34" charset="-120"/>
              </a:rPr>
              <a:t>A 35-second AI-generated short film · Jelle Schwarz, Sam Kempers · AI for Good, HHS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613"/>
        </a:solidFill>
        <a:effectLst/>
      </p:bgPr>
    </p:bg>
    <p:spTree>
      <p:nvGrpSpPr>
        <p:cNvPr id="1" name=""/>
        <p:cNvGrpSpPr/>
        <p:nvPr/>
      </p:nvGrpSpPr>
      <p:grpSpPr>
        <a:xfrm>
          <a:off x="0" y="0"/>
          <a:ext cx="0" cy="0"/>
          <a:chOff x="0" y="0"/>
          <a:chExt cx="0" cy="0"/>
        </a:xfrm>
      </p:grpSpPr>
      <p:pic>
        <p:nvPicPr>
          <p:cNvPr id="2" name="Image 0" descr="Play">
            <a:hlinkClick r:id="rId3"/>
          </p:cNvPr>
          <p:cNvPicPr>
            <a:picLocks noChangeAspect="1"/>
          </p:cNvPicPr>
          <p:nvPr/>
        </p:nvPicPr>
        <p:blipFill>
          <a:blip r:embed="rId4"/>
          <a:srcRect/>
          <a:stretch/>
        </p:blipFill>
        <p:spPr>
          <a:xfrm>
            <a:off x="5588000" y="2105620"/>
            <a:ext cx="1016000" cy="1016000"/>
          </a:xfrm>
          <a:prstGeom prst="rect">
            <a:avLst/>
          </a:prstGeom>
        </p:spPr>
      </p:pic>
      <p:sp>
        <p:nvSpPr>
          <p:cNvPr id="3" name="Text 0"/>
          <p:cNvSpPr>
            <a:spLocks noGrp="1"/>
          </p:cNvSpPr>
          <p:nvPr>
            <p:ph type="title"/>
          </p:nvPr>
        </p:nvSpPr>
        <p:spPr>
          <a:xfrm>
            <a:off x="4017526" y="3375620"/>
            <a:ext cx="4156948" cy="863600"/>
          </a:xfrm>
          <a:prstGeom prst="rect">
            <a:avLst/>
          </a:prstGeom>
          <a:noFill/>
          <a:ln/>
        </p:spPr>
        <p:txBody>
          <a:bodyPr wrap="square" lIns="0" tIns="0" rIns="0" bIns="0" rtlCol="0" anchor="t">
            <a:normAutofit fontScale="90000"/>
          </a:bodyPr>
          <a:lstStyle/>
          <a:p>
            <a:pPr marL="0" indent="0" algn="ctr">
              <a:lnSpc>
                <a:spcPts val="6600"/>
              </a:lnSpc>
              <a:buNone/>
            </a:pPr>
            <a:r>
              <a:rPr lang="en-US" sz="6000" b="0" i="0" dirty="0">
                <a:solidFill>
                  <a:srgbClr val="EEEBE2"/>
                </a:solidFill>
                <a:latin typeface="Instrument Serif" pitchFamily="18" charset="0"/>
                <a:ea typeface="Instrument Serif" pitchFamily="18" charset="-122"/>
                <a:cs typeface="Instrument Serif" pitchFamily="18" charset="-120"/>
              </a:rPr>
              <a:t>First, the film</a:t>
            </a:r>
            <a:endParaRPr lang="en-US" sz="6000" dirty="0"/>
          </a:p>
        </p:txBody>
      </p:sp>
      <p:pic>
        <p:nvPicPr>
          <p:cNvPr id="6" name="Picture 5">
            <a:extLst>
              <a:ext uri="{FF2B5EF4-FFF2-40B4-BE49-F238E27FC236}">
                <a16:creationId xmlns:a16="http://schemas.microsoft.com/office/drawing/2014/main" id="{FB01F9AD-F1E5-709C-7210-3DDC0635402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24306" y1="87531" x2="49306" y2="86308"/>
                        <a14:foregroundMark x1="49306" y1="86308" x2="37500" y2="84352"/>
                        <a14:foregroundMark x1="37500" y1="84352" x2="25463" y2="87531"/>
                        <a14:foregroundMark x1="21065" y1="83619" x2="59722" y2="87775"/>
                        <a14:foregroundMark x1="21296" y1="84108" x2="25694" y2="88264"/>
                        <a14:foregroundMark x1="21759" y1="86308" x2="23148" y2="87531"/>
                      </a14:backgroundRemoval>
                    </a14:imgEffect>
                  </a14:imgLayer>
                </a14:imgProps>
              </a:ext>
            </a:extLst>
          </a:blip>
          <a:stretch>
            <a:fillRect/>
          </a:stretch>
        </p:blipFill>
        <p:spPr>
          <a:xfrm>
            <a:off x="110125" y="1173485"/>
            <a:ext cx="4115374" cy="389626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2F6B3D"/>
                </a:solidFill>
                <a:latin typeface="DM Sans" pitchFamily="34" charset="0"/>
                <a:ea typeface="DM Sans" pitchFamily="34" charset="-122"/>
                <a:cs typeface="DM Sans" pitchFamily="34" charset="-120"/>
              </a:rPr>
              <a:t>THE PROBLEM</a:t>
            </a:r>
            <a:endParaRPr lang="en-US" sz="1300" dirty="0"/>
          </a:p>
        </p:txBody>
      </p:sp>
      <p:sp>
        <p:nvSpPr>
          <p:cNvPr id="3" name="Text 1"/>
          <p:cNvSpPr>
            <a:spLocks noGrp="1"/>
          </p:cNvSpPr>
          <p:nvPr>
            <p:ph type="title"/>
          </p:nvPr>
        </p:nvSpPr>
        <p:spPr>
          <a:xfrm>
            <a:off x="812800" y="1348680"/>
            <a:ext cx="10883392" cy="528241"/>
          </a:xfrm>
          <a:prstGeom prst="rect">
            <a:avLst/>
          </a:prstGeom>
          <a:noFill/>
          <a:ln/>
        </p:spPr>
        <p:txBody>
          <a:bodyPr wrap="square" lIns="0" tIns="0" rIns="0" bIns="0" rtlCol="0" anchor="t">
            <a:normAutofit fontScale="90000"/>
          </a:bodyPr>
          <a:lstStyle/>
          <a:p>
            <a:pPr marL="0" indent="0" algn="l">
              <a:lnSpc>
                <a:spcPts val="3960"/>
              </a:lnSpc>
              <a:buNone/>
            </a:pPr>
            <a:r>
              <a:rPr lang="en-US" sz="3600" b="0" i="0" dirty="0">
                <a:solidFill>
                  <a:srgbClr val="141A16"/>
                </a:solidFill>
                <a:latin typeface="Instrument Serif" pitchFamily="18" charset="0"/>
                <a:ea typeface="Instrument Serif" pitchFamily="18" charset="-122"/>
                <a:cs typeface="Instrument Serif" pitchFamily="18" charset="-120"/>
              </a:rPr>
              <a:t>In 2020 our pressure on nature dropped, and then it came back</a:t>
            </a:r>
            <a:endParaRPr lang="en-US" sz="3600" dirty="0"/>
          </a:p>
        </p:txBody>
      </p:sp>
      <p:sp>
        <p:nvSpPr>
          <p:cNvPr id="4" name="Shape 2"/>
          <p:cNvSpPr/>
          <p:nvPr/>
        </p:nvSpPr>
        <p:spPr>
          <a:xfrm>
            <a:off x="815975" y="3278437"/>
            <a:ext cx="2520950" cy="2116931"/>
          </a:xfrm>
          <a:prstGeom prst="roundRect">
            <a:avLst>
              <a:gd name="adj" fmla="val 4649"/>
            </a:avLst>
          </a:prstGeom>
          <a:solidFill>
            <a:srgbClr val="FBFAF6"/>
          </a:solidFill>
          <a:ln w="6350">
            <a:solidFill>
              <a:srgbClr val="DCD7CA"/>
            </a:solidFill>
            <a:prstDash val="solid"/>
          </a:ln>
        </p:spPr>
        <p:txBody>
          <a:bodyPr/>
          <a:lstStyle/>
          <a:p>
            <a:endParaRPr lang="en-NL"/>
          </a:p>
        </p:txBody>
      </p:sp>
      <p:sp>
        <p:nvSpPr>
          <p:cNvPr id="5" name="Text 3"/>
          <p:cNvSpPr/>
          <p:nvPr/>
        </p:nvSpPr>
        <p:spPr>
          <a:xfrm>
            <a:off x="1073150" y="3501836"/>
            <a:ext cx="2066798"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2F6B3D"/>
                </a:solidFill>
                <a:latin typeface="Instrument Serif" pitchFamily="18" charset="0"/>
                <a:ea typeface="Instrument Serif" pitchFamily="18" charset="-122"/>
                <a:cs typeface="Instrument Serif" pitchFamily="18" charset="-120"/>
              </a:rPr>
              <a:t>−17%</a:t>
            </a:r>
            <a:endParaRPr lang="en-US" sz="4800" dirty="0"/>
          </a:p>
        </p:txBody>
      </p:sp>
      <p:sp>
        <p:nvSpPr>
          <p:cNvPr id="6" name="Text 4"/>
          <p:cNvSpPr/>
          <p:nvPr/>
        </p:nvSpPr>
        <p:spPr>
          <a:xfrm>
            <a:off x="1073150" y="4240792"/>
            <a:ext cx="2066798"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6524B"/>
                </a:solidFill>
                <a:latin typeface="DM Sans" pitchFamily="34" charset="0"/>
                <a:ea typeface="DM Sans" pitchFamily="34" charset="-122"/>
                <a:cs typeface="DM Sans" pitchFamily="34" charset="-120"/>
              </a:rPr>
              <a:t>Global CO₂ emissions in early April 2020, compared with a year earlier</a:t>
            </a:r>
            <a:endParaRPr lang="en-US" sz="1300" dirty="0"/>
          </a:p>
        </p:txBody>
      </p:sp>
      <p:sp>
        <p:nvSpPr>
          <p:cNvPr id="7" name="Shape 5"/>
          <p:cNvSpPr/>
          <p:nvPr/>
        </p:nvSpPr>
        <p:spPr>
          <a:xfrm>
            <a:off x="3495675" y="3278437"/>
            <a:ext cx="2520950" cy="2116931"/>
          </a:xfrm>
          <a:prstGeom prst="roundRect">
            <a:avLst>
              <a:gd name="adj" fmla="val 4649"/>
            </a:avLst>
          </a:prstGeom>
          <a:solidFill>
            <a:srgbClr val="FBFAF6"/>
          </a:solidFill>
          <a:ln w="6350">
            <a:solidFill>
              <a:srgbClr val="DCD7CA"/>
            </a:solidFill>
            <a:prstDash val="solid"/>
          </a:ln>
        </p:spPr>
        <p:txBody>
          <a:bodyPr/>
          <a:lstStyle/>
          <a:p>
            <a:endParaRPr lang="en-NL"/>
          </a:p>
        </p:txBody>
      </p:sp>
      <p:sp>
        <p:nvSpPr>
          <p:cNvPr id="8" name="Text 6"/>
          <p:cNvSpPr/>
          <p:nvPr/>
        </p:nvSpPr>
        <p:spPr>
          <a:xfrm>
            <a:off x="3752850" y="3506175"/>
            <a:ext cx="2066798"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2F6B3D"/>
                </a:solidFill>
                <a:latin typeface="Instrument Serif" pitchFamily="18" charset="0"/>
                <a:ea typeface="Instrument Serif" pitchFamily="18" charset="-122"/>
                <a:cs typeface="Instrument Serif" pitchFamily="18" charset="-120"/>
              </a:rPr>
              <a:t>−8.5%</a:t>
            </a:r>
            <a:endParaRPr lang="en-US" sz="4800" dirty="0"/>
          </a:p>
        </p:txBody>
      </p:sp>
      <p:sp>
        <p:nvSpPr>
          <p:cNvPr id="9" name="Text 7"/>
          <p:cNvSpPr/>
          <p:nvPr/>
        </p:nvSpPr>
        <p:spPr>
          <a:xfrm>
            <a:off x="3752850" y="4336901"/>
            <a:ext cx="2066798"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6524B"/>
                </a:solidFill>
                <a:latin typeface="DM Sans" pitchFamily="34" charset="0"/>
                <a:ea typeface="DM Sans" pitchFamily="34" charset="-122"/>
                <a:cs typeface="DM Sans" pitchFamily="34" charset="-120"/>
              </a:rPr>
              <a:t>Greenhouse gases in Portugal in 2020, compared with 2019</a:t>
            </a:r>
            <a:endParaRPr lang="en-US" sz="1300" dirty="0"/>
          </a:p>
        </p:txBody>
      </p:sp>
      <p:sp>
        <p:nvSpPr>
          <p:cNvPr id="10" name="Shape 8"/>
          <p:cNvSpPr/>
          <p:nvPr/>
        </p:nvSpPr>
        <p:spPr>
          <a:xfrm>
            <a:off x="6175375" y="3281440"/>
            <a:ext cx="2520950" cy="2116931"/>
          </a:xfrm>
          <a:prstGeom prst="roundRect">
            <a:avLst>
              <a:gd name="adj" fmla="val 4649"/>
            </a:avLst>
          </a:prstGeom>
          <a:solidFill>
            <a:srgbClr val="FBFAF6"/>
          </a:solidFill>
          <a:ln w="6350">
            <a:solidFill>
              <a:srgbClr val="DCD7CA"/>
            </a:solidFill>
            <a:prstDash val="solid"/>
          </a:ln>
        </p:spPr>
        <p:txBody>
          <a:bodyPr/>
          <a:lstStyle/>
          <a:p>
            <a:endParaRPr lang="en-NL"/>
          </a:p>
        </p:txBody>
      </p:sp>
      <p:sp>
        <p:nvSpPr>
          <p:cNvPr id="11" name="Text 9"/>
          <p:cNvSpPr/>
          <p:nvPr/>
        </p:nvSpPr>
        <p:spPr>
          <a:xfrm>
            <a:off x="6432550" y="3506175"/>
            <a:ext cx="2066798"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2F6B3D"/>
                </a:solidFill>
                <a:latin typeface="Instrument Serif" pitchFamily="18" charset="0"/>
                <a:ea typeface="Instrument Serif" pitchFamily="18" charset="-122"/>
                <a:cs typeface="Instrument Serif" pitchFamily="18" charset="-120"/>
              </a:rPr>
              <a:t>+73%</a:t>
            </a:r>
            <a:endParaRPr lang="en-US" sz="4800" dirty="0"/>
          </a:p>
        </p:txBody>
      </p:sp>
      <p:sp>
        <p:nvSpPr>
          <p:cNvPr id="12" name="Text 10"/>
          <p:cNvSpPr/>
          <p:nvPr/>
        </p:nvSpPr>
        <p:spPr>
          <a:xfrm>
            <a:off x="6432550" y="4225478"/>
            <a:ext cx="2066798"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6524B"/>
                </a:solidFill>
                <a:latin typeface="DM Sans" pitchFamily="34" charset="0"/>
                <a:ea typeface="DM Sans" pitchFamily="34" charset="-122"/>
                <a:cs typeface="DM Sans" pitchFamily="34" charset="-120"/>
              </a:rPr>
              <a:t>Longer movements of mammals under strict lockdowns (2,300 animals, 43 species)</a:t>
            </a:r>
            <a:endParaRPr lang="en-US" sz="1300" dirty="0"/>
          </a:p>
        </p:txBody>
      </p:sp>
      <p:sp>
        <p:nvSpPr>
          <p:cNvPr id="13" name="Shape 11"/>
          <p:cNvSpPr/>
          <p:nvPr/>
        </p:nvSpPr>
        <p:spPr>
          <a:xfrm>
            <a:off x="8855075" y="3278436"/>
            <a:ext cx="2520950" cy="2116931"/>
          </a:xfrm>
          <a:prstGeom prst="roundRect">
            <a:avLst>
              <a:gd name="adj" fmla="val 4649"/>
            </a:avLst>
          </a:prstGeom>
          <a:solidFill>
            <a:srgbClr val="FBFAF6"/>
          </a:solidFill>
          <a:ln w="6350">
            <a:solidFill>
              <a:srgbClr val="DCD7CA"/>
            </a:solidFill>
            <a:prstDash val="solid"/>
          </a:ln>
        </p:spPr>
        <p:txBody>
          <a:bodyPr/>
          <a:lstStyle/>
          <a:p>
            <a:endParaRPr lang="en-NL"/>
          </a:p>
        </p:txBody>
      </p:sp>
      <p:sp>
        <p:nvSpPr>
          <p:cNvPr id="14" name="Text 12"/>
          <p:cNvSpPr/>
          <p:nvPr/>
        </p:nvSpPr>
        <p:spPr>
          <a:xfrm>
            <a:off x="9112250" y="3506175"/>
            <a:ext cx="2066798"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9A4A1C"/>
                </a:solidFill>
                <a:latin typeface="Instrument Serif" pitchFamily="18" charset="0"/>
                <a:ea typeface="Instrument Serif" pitchFamily="18" charset="-122"/>
                <a:cs typeface="Instrument Serif" pitchFamily="18" charset="-120"/>
              </a:rPr>
              <a:t>+2%</a:t>
            </a:r>
            <a:endParaRPr lang="en-US" sz="4800" dirty="0"/>
          </a:p>
        </p:txBody>
      </p:sp>
      <p:sp>
        <p:nvSpPr>
          <p:cNvPr id="15" name="Text 13"/>
          <p:cNvSpPr/>
          <p:nvPr/>
        </p:nvSpPr>
        <p:spPr>
          <a:xfrm>
            <a:off x="9112250" y="4336901"/>
            <a:ext cx="2066798"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6524B"/>
                </a:solidFill>
                <a:latin typeface="DM Sans" pitchFamily="34" charset="0"/>
                <a:ea typeface="DM Sans" pitchFamily="34" charset="-122"/>
                <a:cs typeface="DM Sans" pitchFamily="34" charset="-120"/>
              </a:rPr>
              <a:t>CO₂ above the year before by December 2020: the gain was gone</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63"/>
                </a:solidFill>
                <a:latin typeface="DM Sans" pitchFamily="34" charset="0"/>
                <a:ea typeface="DM Sans" pitchFamily="34" charset="-122"/>
                <a:cs typeface="DM Sans" pitchFamily="34" charset="-120"/>
              </a:rPr>
              <a:t>Sources: Fiske et al. 2024, Environment and Planning E · Tucker et al. 2023, Science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61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8DC891"/>
                </a:solidFill>
                <a:latin typeface="DM Sans" pitchFamily="34" charset="0"/>
                <a:ea typeface="DM Sans" pitchFamily="34" charset="-122"/>
                <a:cs typeface="DM Sans" pitchFamily="34" charset="-120"/>
              </a:rPr>
              <a:t>SDG 13 · CLIMATE ACTION</a:t>
            </a:r>
            <a:endParaRPr lang="en-US" sz="1300" dirty="0"/>
          </a:p>
        </p:txBody>
      </p:sp>
      <p:sp>
        <p:nvSpPr>
          <p:cNvPr id="3" name="Text 1"/>
          <p:cNvSpPr>
            <a:spLocks noGrp="1"/>
          </p:cNvSpPr>
          <p:nvPr>
            <p:ph type="title"/>
          </p:nvPr>
        </p:nvSpPr>
        <p:spPr>
          <a:xfrm>
            <a:off x="812800" y="1399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EEEBE2"/>
                </a:solidFill>
                <a:latin typeface="Instrument Serif" pitchFamily="18" charset="0"/>
                <a:ea typeface="Instrument Serif" pitchFamily="18" charset="-122"/>
                <a:cs typeface="Instrument Serif" pitchFamily="18" charset="-120"/>
              </a:rPr>
              <a:t>Europe's 2030 goal is still a gap</a:t>
            </a:r>
            <a:endParaRPr lang="en-US" sz="3600" dirty="0"/>
          </a:p>
        </p:txBody>
      </p:sp>
      <p:sp>
        <p:nvSpPr>
          <p:cNvPr id="4" name="Shape 2"/>
          <p:cNvSpPr/>
          <p:nvPr/>
        </p:nvSpPr>
        <p:spPr>
          <a:xfrm>
            <a:off x="812800" y="2270621"/>
            <a:ext cx="3420467" cy="0"/>
          </a:xfrm>
          <a:prstGeom prst="line">
            <a:avLst/>
          </a:prstGeom>
          <a:noFill/>
          <a:ln w="25400">
            <a:solidFill>
              <a:srgbClr val="A9B5AE"/>
            </a:solidFill>
            <a:prstDash val="solid"/>
          </a:ln>
        </p:spPr>
        <p:txBody>
          <a:bodyPr/>
          <a:lstStyle/>
          <a:p>
            <a:endParaRPr lang="en-NL"/>
          </a:p>
        </p:txBody>
      </p:sp>
      <p:sp>
        <p:nvSpPr>
          <p:cNvPr id="5" name="Text 3"/>
          <p:cNvSpPr/>
          <p:nvPr/>
        </p:nvSpPr>
        <p:spPr>
          <a:xfrm>
            <a:off x="812800" y="2486521"/>
            <a:ext cx="3523081" cy="787400"/>
          </a:xfrm>
          <a:prstGeom prst="rect">
            <a:avLst/>
          </a:prstGeom>
          <a:noFill/>
          <a:ln/>
        </p:spPr>
        <p:txBody>
          <a:bodyPr wrap="square" lIns="0" tIns="0" rIns="0" bIns="0" rtlCol="0" anchor="t">
            <a:normAutofit/>
          </a:bodyPr>
          <a:lstStyle/>
          <a:p>
            <a:pPr marL="0" indent="0" algn="l">
              <a:lnSpc>
                <a:spcPts val="6000"/>
              </a:lnSpc>
              <a:buNone/>
            </a:pPr>
            <a:r>
              <a:rPr lang="en-US" sz="6000" dirty="0">
                <a:solidFill>
                  <a:srgbClr val="EEEBE2"/>
                </a:solidFill>
                <a:latin typeface="Instrument Serif" pitchFamily="18" charset="0"/>
                <a:ea typeface="Instrument Serif" pitchFamily="18" charset="-122"/>
                <a:cs typeface="Instrument Serif" pitchFamily="18" charset="-120"/>
              </a:rPr>
              <a:t>−36%</a:t>
            </a:r>
            <a:endParaRPr lang="en-US" sz="6000" dirty="0"/>
          </a:p>
        </p:txBody>
      </p:sp>
      <p:sp>
        <p:nvSpPr>
          <p:cNvPr id="6" name="Text 4"/>
          <p:cNvSpPr/>
          <p:nvPr/>
        </p:nvSpPr>
        <p:spPr>
          <a:xfrm>
            <a:off x="812800" y="3350121"/>
            <a:ext cx="3523081"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A9B5AE"/>
                </a:solidFill>
                <a:latin typeface="DM Sans" pitchFamily="34" charset="0"/>
                <a:ea typeface="DM Sans" pitchFamily="34" charset="-122"/>
                <a:cs typeface="DM Sans" pitchFamily="34" charset="-120"/>
              </a:rPr>
              <a:t>EU net greenhouse gases in 2023, compared with 1990</a:t>
            </a:r>
            <a:endParaRPr lang="en-US" sz="1400" dirty="0"/>
          </a:p>
        </p:txBody>
      </p:sp>
      <p:sp>
        <p:nvSpPr>
          <p:cNvPr id="7" name="Shape 5"/>
          <p:cNvSpPr/>
          <p:nvPr/>
        </p:nvSpPr>
        <p:spPr>
          <a:xfrm>
            <a:off x="4385667" y="2270621"/>
            <a:ext cx="3420566" cy="0"/>
          </a:xfrm>
          <a:prstGeom prst="line">
            <a:avLst/>
          </a:prstGeom>
          <a:noFill/>
          <a:ln w="25400">
            <a:solidFill>
              <a:srgbClr val="E3A857"/>
            </a:solidFill>
            <a:prstDash val="solid"/>
          </a:ln>
        </p:spPr>
        <p:txBody>
          <a:bodyPr/>
          <a:lstStyle/>
          <a:p>
            <a:endParaRPr lang="en-NL"/>
          </a:p>
        </p:txBody>
      </p:sp>
      <p:sp>
        <p:nvSpPr>
          <p:cNvPr id="8" name="Text 6"/>
          <p:cNvSpPr/>
          <p:nvPr/>
        </p:nvSpPr>
        <p:spPr>
          <a:xfrm>
            <a:off x="4385667" y="2486521"/>
            <a:ext cx="3523183" cy="787400"/>
          </a:xfrm>
          <a:prstGeom prst="rect">
            <a:avLst/>
          </a:prstGeom>
          <a:noFill/>
          <a:ln/>
        </p:spPr>
        <p:txBody>
          <a:bodyPr wrap="square" lIns="0" tIns="0" rIns="0" bIns="0" rtlCol="0" anchor="t">
            <a:normAutofit/>
          </a:bodyPr>
          <a:lstStyle/>
          <a:p>
            <a:pPr marL="0" indent="0" algn="l">
              <a:lnSpc>
                <a:spcPts val="6000"/>
              </a:lnSpc>
              <a:buNone/>
            </a:pPr>
            <a:r>
              <a:rPr lang="en-US" sz="6000" dirty="0">
                <a:solidFill>
                  <a:srgbClr val="E3A857"/>
                </a:solidFill>
                <a:latin typeface="Instrument Serif" pitchFamily="18" charset="0"/>
                <a:ea typeface="Instrument Serif" pitchFamily="18" charset="-122"/>
                <a:cs typeface="Instrument Serif" pitchFamily="18" charset="-120"/>
              </a:rPr>
              <a:t>−54%</a:t>
            </a:r>
            <a:endParaRPr lang="en-US" sz="6000" dirty="0"/>
          </a:p>
        </p:txBody>
      </p:sp>
      <p:sp>
        <p:nvSpPr>
          <p:cNvPr id="9" name="Text 7"/>
          <p:cNvSpPr/>
          <p:nvPr/>
        </p:nvSpPr>
        <p:spPr>
          <a:xfrm>
            <a:off x="4385667" y="3350121"/>
            <a:ext cx="3523183"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A9B5AE"/>
                </a:solidFill>
                <a:latin typeface="DM Sans" pitchFamily="34" charset="0"/>
                <a:ea typeface="DM Sans" pitchFamily="34" charset="-122"/>
                <a:cs typeface="DM Sans" pitchFamily="34" charset="-120"/>
              </a:rPr>
              <a:t>Projected for 2030, even with all extra planned measures</a:t>
            </a:r>
            <a:endParaRPr lang="en-US" sz="1400" dirty="0"/>
          </a:p>
        </p:txBody>
      </p:sp>
      <p:sp>
        <p:nvSpPr>
          <p:cNvPr id="10" name="Shape 8"/>
          <p:cNvSpPr/>
          <p:nvPr/>
        </p:nvSpPr>
        <p:spPr>
          <a:xfrm>
            <a:off x="7958634" y="2270621"/>
            <a:ext cx="3420566" cy="0"/>
          </a:xfrm>
          <a:prstGeom prst="line">
            <a:avLst/>
          </a:prstGeom>
          <a:noFill/>
          <a:ln w="25400">
            <a:solidFill>
              <a:srgbClr val="8DC891"/>
            </a:solidFill>
            <a:prstDash val="solid"/>
          </a:ln>
        </p:spPr>
        <p:txBody>
          <a:bodyPr/>
          <a:lstStyle/>
          <a:p>
            <a:endParaRPr lang="en-NL"/>
          </a:p>
        </p:txBody>
      </p:sp>
      <p:sp>
        <p:nvSpPr>
          <p:cNvPr id="11" name="Text 9"/>
          <p:cNvSpPr/>
          <p:nvPr/>
        </p:nvSpPr>
        <p:spPr>
          <a:xfrm>
            <a:off x="7958634" y="2486521"/>
            <a:ext cx="3523183" cy="787400"/>
          </a:xfrm>
          <a:prstGeom prst="rect">
            <a:avLst/>
          </a:prstGeom>
          <a:noFill/>
          <a:ln/>
        </p:spPr>
        <p:txBody>
          <a:bodyPr wrap="square" lIns="0" tIns="0" rIns="0" bIns="0" rtlCol="0" anchor="t">
            <a:normAutofit/>
          </a:bodyPr>
          <a:lstStyle/>
          <a:p>
            <a:pPr marL="0" indent="0" algn="l">
              <a:lnSpc>
                <a:spcPts val="6000"/>
              </a:lnSpc>
              <a:buNone/>
            </a:pPr>
            <a:r>
              <a:rPr lang="en-US" sz="6000" dirty="0">
                <a:solidFill>
                  <a:srgbClr val="8DC891"/>
                </a:solidFill>
                <a:latin typeface="Instrument Serif" pitchFamily="18" charset="0"/>
                <a:ea typeface="Instrument Serif" pitchFamily="18" charset="-122"/>
                <a:cs typeface="Instrument Serif" pitchFamily="18" charset="-120"/>
              </a:rPr>
              <a:t>−55%</a:t>
            </a:r>
            <a:endParaRPr lang="en-US" sz="6000" dirty="0"/>
          </a:p>
        </p:txBody>
      </p:sp>
      <p:sp>
        <p:nvSpPr>
          <p:cNvPr id="12" name="Text 10"/>
          <p:cNvSpPr/>
          <p:nvPr/>
        </p:nvSpPr>
        <p:spPr>
          <a:xfrm>
            <a:off x="7958634" y="3350121"/>
            <a:ext cx="3523183"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A9B5AE"/>
                </a:solidFill>
                <a:latin typeface="DM Sans" pitchFamily="34" charset="0"/>
                <a:ea typeface="DM Sans" pitchFamily="34" charset="-122"/>
                <a:cs typeface="DM Sans" pitchFamily="34" charset="-120"/>
              </a:rPr>
              <a:t>The binding EU target for 2030 (European Climate Law)</a:t>
            </a:r>
            <a:endParaRPr lang="en-US" sz="1400" dirty="0"/>
          </a:p>
        </p:txBody>
      </p:sp>
      <p:sp>
        <p:nvSpPr>
          <p:cNvPr id="13" name="Text 11"/>
          <p:cNvSpPr/>
          <p:nvPr/>
        </p:nvSpPr>
        <p:spPr>
          <a:xfrm>
            <a:off x="812800" y="4185741"/>
            <a:ext cx="1088339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EEBE2"/>
                </a:solidFill>
                <a:latin typeface="DM Sans" pitchFamily="34" charset="0"/>
                <a:ea typeface="DM Sans" pitchFamily="34" charset="-122"/>
                <a:cs typeface="DM Sans" pitchFamily="34" charset="-120"/>
              </a:rPr>
              <a:t>Our film works on target 13.3: </a:t>
            </a:r>
            <a:r>
              <a:rPr lang="en-US" sz="1600" b="1" dirty="0">
                <a:solidFill>
                  <a:srgbClr val="EEEBE2"/>
                </a:solidFill>
                <a:latin typeface="DM Sans" pitchFamily="34" charset="0"/>
                <a:ea typeface="DM Sans" pitchFamily="34" charset="-122"/>
                <a:cs typeface="DM Sans" pitchFamily="34" charset="-120"/>
              </a:rPr>
              <a:t>awareness</a:t>
            </a:r>
            <a:r>
              <a:rPr lang="en-US" sz="1600" dirty="0">
                <a:solidFill>
                  <a:srgbClr val="EEEBE2"/>
                </a:solidFill>
                <a:latin typeface="DM Sans" pitchFamily="34" charset="0"/>
                <a:ea typeface="DM Sans" pitchFamily="34" charset="-122"/>
                <a:cs typeface="DM Sans" pitchFamily="34" charset="-120"/>
              </a:rPr>
              <a:t>. 2020 proved fast change is possible. The question is whether we choose it.</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9A93"/>
                </a:solidFill>
                <a:latin typeface="DM Sans" pitchFamily="34" charset="0"/>
                <a:ea typeface="DM Sans" pitchFamily="34" charset="-122"/>
                <a:cs typeface="DM Sans" pitchFamily="34" charset="-120"/>
              </a:rPr>
              <a:t>Sources: European Environment Agency, GHG trends and projections · European Climate Law · UN SDG 13 targets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2F6B3D"/>
                </a:solidFill>
                <a:latin typeface="DM Sans" pitchFamily="34" charset="0"/>
                <a:ea typeface="DM Sans" pitchFamily="34" charset="-122"/>
                <a:cs typeface="DM Sans" pitchFamily="34" charset="-120"/>
              </a:rPr>
              <a:t>AUDIENCE AND PLACEMENT</a:t>
            </a:r>
            <a:endParaRPr lang="en-US" sz="1300" dirty="0"/>
          </a:p>
        </p:txBody>
      </p:sp>
      <p:sp>
        <p:nvSpPr>
          <p:cNvPr id="3" name="Text 1"/>
          <p:cNvSpPr>
            <a:spLocks noGrp="1"/>
          </p:cNvSpPr>
          <p:nvPr>
            <p:ph type="title"/>
          </p:nvPr>
        </p:nvSpPr>
        <p:spPr>
          <a:xfrm>
            <a:off x="812800" y="13486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1A16"/>
                </a:solidFill>
                <a:latin typeface="Instrument Serif" pitchFamily="18" charset="0"/>
                <a:ea typeface="Instrument Serif" pitchFamily="18" charset="-122"/>
                <a:cs typeface="Instrument Serif" pitchFamily="18" charset="-120"/>
              </a:rPr>
              <a:t>For people who remember 2020 only as loss</a:t>
            </a:r>
            <a:endParaRPr lang="en-US" sz="3600" dirty="0"/>
          </a:p>
        </p:txBody>
      </p:sp>
      <p:sp>
        <p:nvSpPr>
          <p:cNvPr id="4" name="Shape 2"/>
          <p:cNvSpPr/>
          <p:nvPr/>
        </p:nvSpPr>
        <p:spPr>
          <a:xfrm>
            <a:off x="815975" y="2159496"/>
            <a:ext cx="3414117" cy="1552972"/>
          </a:xfrm>
          <a:prstGeom prst="roundRect">
            <a:avLst>
              <a:gd name="adj" fmla="val 6338"/>
            </a:avLst>
          </a:prstGeom>
          <a:solidFill>
            <a:srgbClr val="FBFAF6"/>
          </a:solidFill>
          <a:ln w="6350">
            <a:solidFill>
              <a:srgbClr val="DCD7CA"/>
            </a:solidFill>
            <a:prstDash val="solid"/>
          </a:ln>
        </p:spPr>
        <p:txBody>
          <a:bodyPr/>
          <a:lstStyle/>
          <a:p>
            <a:endParaRPr lang="en-NL"/>
          </a:p>
        </p:txBody>
      </p:sp>
      <p:sp>
        <p:nvSpPr>
          <p:cNvPr id="5" name="Text 3"/>
          <p:cNvSpPr/>
          <p:nvPr/>
        </p:nvSpPr>
        <p:spPr>
          <a:xfrm>
            <a:off x="1073150" y="2416671"/>
            <a:ext cx="29867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A16"/>
                </a:solidFill>
                <a:latin typeface="DM Sans" pitchFamily="34" charset="0"/>
                <a:ea typeface="DM Sans" pitchFamily="34" charset="-122"/>
                <a:cs typeface="DM Sans" pitchFamily="34" charset="-120"/>
              </a:rPr>
              <a:t>Who they are</a:t>
            </a:r>
            <a:endParaRPr lang="en-US" sz="1600" dirty="0"/>
          </a:p>
        </p:txBody>
      </p:sp>
      <p:sp>
        <p:nvSpPr>
          <p:cNvPr id="6" name="Text 4"/>
          <p:cNvSpPr/>
          <p:nvPr/>
        </p:nvSpPr>
        <p:spPr>
          <a:xfrm>
            <a:off x="1073150" y="2762052"/>
            <a:ext cx="298676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6524B"/>
                </a:solidFill>
                <a:latin typeface="DM Sans" pitchFamily="34" charset="0"/>
                <a:ea typeface="DM Sans" pitchFamily="34" charset="-122"/>
                <a:cs typeface="DM Sans" pitchFamily="34" charset="-120"/>
              </a:rPr>
              <a:t>Adults in Europe who lived through the lockdowns and think of COVID as deaths, isolation and rules.</a:t>
            </a:r>
            <a:endParaRPr lang="en-US" sz="1300" dirty="0"/>
          </a:p>
        </p:txBody>
      </p:sp>
      <p:sp>
        <p:nvSpPr>
          <p:cNvPr id="7" name="Shape 5"/>
          <p:cNvSpPr/>
          <p:nvPr/>
        </p:nvSpPr>
        <p:spPr>
          <a:xfrm>
            <a:off x="4388842" y="2159496"/>
            <a:ext cx="3414216" cy="1552972"/>
          </a:xfrm>
          <a:prstGeom prst="roundRect">
            <a:avLst>
              <a:gd name="adj" fmla="val 6338"/>
            </a:avLst>
          </a:prstGeom>
          <a:solidFill>
            <a:srgbClr val="FBFAF6"/>
          </a:solidFill>
          <a:ln w="6350">
            <a:solidFill>
              <a:srgbClr val="DCD7CA"/>
            </a:solidFill>
            <a:prstDash val="solid"/>
          </a:ln>
        </p:spPr>
        <p:txBody>
          <a:bodyPr/>
          <a:lstStyle/>
          <a:p>
            <a:endParaRPr lang="en-NL"/>
          </a:p>
        </p:txBody>
      </p:sp>
      <p:sp>
        <p:nvSpPr>
          <p:cNvPr id="8" name="Text 6"/>
          <p:cNvSpPr/>
          <p:nvPr/>
        </p:nvSpPr>
        <p:spPr>
          <a:xfrm>
            <a:off x="4646017" y="2416671"/>
            <a:ext cx="298686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A16"/>
                </a:solidFill>
                <a:latin typeface="DM Sans" pitchFamily="34" charset="0"/>
                <a:ea typeface="DM Sans" pitchFamily="34" charset="-122"/>
                <a:cs typeface="DM Sans" pitchFamily="34" charset="-120"/>
              </a:rPr>
              <a:t>What they believe</a:t>
            </a:r>
            <a:endParaRPr lang="en-US" sz="1600" dirty="0"/>
          </a:p>
        </p:txBody>
      </p:sp>
      <p:sp>
        <p:nvSpPr>
          <p:cNvPr id="9" name="Text 7"/>
          <p:cNvSpPr/>
          <p:nvPr/>
        </p:nvSpPr>
        <p:spPr>
          <a:xfrm>
            <a:off x="4646017" y="2762052"/>
            <a:ext cx="2986862"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6524B"/>
                </a:solidFill>
                <a:latin typeface="DM Sans" pitchFamily="34" charset="0"/>
                <a:ea typeface="DM Sans" pitchFamily="34" charset="-122"/>
                <a:cs typeface="DM Sans" pitchFamily="34" charset="-120"/>
              </a:rPr>
              <a:t>COVID only took things away. Climate change feels slow and far off, and big change feels impossible.</a:t>
            </a:r>
            <a:endParaRPr lang="en-US" sz="1300" dirty="0"/>
          </a:p>
        </p:txBody>
      </p:sp>
      <p:sp>
        <p:nvSpPr>
          <p:cNvPr id="10" name="Shape 8"/>
          <p:cNvSpPr/>
          <p:nvPr/>
        </p:nvSpPr>
        <p:spPr>
          <a:xfrm>
            <a:off x="7961809" y="2159496"/>
            <a:ext cx="3414216" cy="1552972"/>
          </a:xfrm>
          <a:prstGeom prst="roundRect">
            <a:avLst>
              <a:gd name="adj" fmla="val 6338"/>
            </a:avLst>
          </a:prstGeom>
          <a:solidFill>
            <a:srgbClr val="FBFAF6"/>
          </a:solidFill>
          <a:ln w="6350">
            <a:solidFill>
              <a:srgbClr val="DCD7CA"/>
            </a:solidFill>
            <a:prstDash val="solid"/>
          </a:ln>
        </p:spPr>
        <p:txBody>
          <a:bodyPr/>
          <a:lstStyle/>
          <a:p>
            <a:endParaRPr lang="en-NL"/>
          </a:p>
        </p:txBody>
      </p:sp>
      <p:sp>
        <p:nvSpPr>
          <p:cNvPr id="11" name="Text 9"/>
          <p:cNvSpPr/>
          <p:nvPr/>
        </p:nvSpPr>
        <p:spPr>
          <a:xfrm>
            <a:off x="8218984" y="2416671"/>
            <a:ext cx="298686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A16"/>
                </a:solidFill>
                <a:latin typeface="DM Sans" pitchFamily="34" charset="0"/>
                <a:ea typeface="DM Sans" pitchFamily="34" charset="-122"/>
                <a:cs typeface="DM Sans" pitchFamily="34" charset="-120"/>
              </a:rPr>
              <a:t>Not for</a:t>
            </a:r>
            <a:endParaRPr lang="en-US" sz="1600" dirty="0"/>
          </a:p>
        </p:txBody>
      </p:sp>
      <p:sp>
        <p:nvSpPr>
          <p:cNvPr id="12" name="Text 10"/>
          <p:cNvSpPr/>
          <p:nvPr/>
        </p:nvSpPr>
        <p:spPr>
          <a:xfrm>
            <a:off x="8218984" y="2762052"/>
            <a:ext cx="2986862"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6524B"/>
                </a:solidFill>
                <a:latin typeface="DM Sans" pitchFamily="34" charset="0"/>
                <a:ea typeface="DM Sans" pitchFamily="34" charset="-122"/>
                <a:cs typeface="DM Sans" pitchFamily="34" charset="-120"/>
              </a:rPr>
              <a:t>Climate experts who know the data, and people in fresh grief, for whom any upside of COVID hurts.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bg>
      <p:bgPr>
        <a:solidFill>
          <a:srgbClr val="F2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2F6B3D"/>
                </a:solidFill>
                <a:latin typeface="DM Sans" pitchFamily="34" charset="0"/>
                <a:ea typeface="DM Sans" pitchFamily="34" charset="-122"/>
                <a:cs typeface="DM Sans" pitchFamily="34" charset="-120"/>
              </a:rPr>
              <a:t>THE STORY</a:t>
            </a:r>
            <a:endParaRPr lang="en-US" sz="1300" dirty="0"/>
          </a:p>
        </p:txBody>
      </p:sp>
      <p:sp>
        <p:nvSpPr>
          <p:cNvPr id="3" name="Text 1"/>
          <p:cNvSpPr>
            <a:spLocks noGrp="1"/>
          </p:cNvSpPr>
          <p:nvPr>
            <p:ph type="title"/>
          </p:nvPr>
        </p:nvSpPr>
        <p:spPr>
          <a:xfrm>
            <a:off x="812800" y="13486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1A16"/>
                </a:solidFill>
                <a:latin typeface="Instrument Serif" pitchFamily="18" charset="0"/>
                <a:ea typeface="Instrument Serif" pitchFamily="18" charset="-122"/>
                <a:cs typeface="Instrument Serif" pitchFamily="18" charset="-120"/>
              </a:rPr>
              <a:t>Three acts on one European street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69021"/>
          <a:ext cx="10553700" cy="2290367"/>
        </p:xfrm>
        <a:graphic>
          <a:graphicData uri="http://schemas.openxmlformats.org/drawingml/2006/table">
            <a:tbl>
              <a:tblPr/>
              <a:tblGrid>
                <a:gridCol w="2110740">
                  <a:extLst>
                    <a:ext uri="{9D8B030D-6E8A-4147-A177-3AD203B41FA5}">
                      <a16:colId xmlns:a16="http://schemas.microsoft.com/office/drawing/2014/main" val="20000"/>
                    </a:ext>
                  </a:extLst>
                </a:gridCol>
                <a:gridCol w="1266444">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gridCol w="2955036">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141A16"/>
                          </a:solidFill>
                          <a:latin typeface="DM Sans" pitchFamily="34" charset="0"/>
                          <a:ea typeface="DM Sans" pitchFamily="34" charset="-122"/>
                          <a:cs typeface="DM Sans" pitchFamily="34" charset="-120"/>
                        </a:rPr>
                        <a:t>Act</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B3B1AB"/>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B3B1AB"/>
                      </a:solidFill>
                      <a:prstDash val="solid"/>
                      <a:round/>
                      <a:headEnd type="none" w="med" len="med"/>
                      <a:tailEnd type="none" w="med" len="med"/>
                    </a:lnB>
                    <a:solidFill>
                      <a:srgbClr val="E0DDD6"/>
                    </a:solidFill>
                  </a:tcPr>
                </a:tc>
                <a:tc>
                  <a:txBody>
                    <a:bodyPr/>
                    <a:lstStyle/>
                    <a:p>
                      <a:pPr marL="0" indent="0">
                        <a:lnSpc>
                          <a:spcPts val="1960"/>
                        </a:lnSpc>
                        <a:buNone/>
                      </a:pPr>
                      <a:r>
                        <a:rPr lang="en-US" sz="1400" b="1" dirty="0">
                          <a:solidFill>
                            <a:srgbClr val="141A16"/>
                          </a:solidFill>
                          <a:latin typeface="DM Sans" pitchFamily="34" charset="0"/>
                          <a:ea typeface="DM Sans" pitchFamily="34" charset="-122"/>
                          <a:cs typeface="DM Sans" pitchFamily="34" charset="-120"/>
                        </a:rPr>
                        <a:t>Shots</a:t>
                      </a:r>
                      <a:endParaRPr lang="en-US" sz="1400" dirty="0">
                        <a:latin typeface="DM Sans" charset="0"/>
                        <a:ea typeface="DM Sans" charset="0"/>
                        <a:cs typeface="DM Sans" charset="0"/>
                      </a:endParaRPr>
                    </a:p>
                  </a:txBody>
                  <a:tcPr marL="62230" marR="62230" marT="62230" marB="62230">
                    <a:lnL w="12700" cap="flat" cmpd="sng" algn="ctr">
                      <a:solidFill>
                        <a:srgbClr val="B3B1AB"/>
                      </a:solidFill>
                      <a:prstDash val="solid"/>
                      <a:round/>
                      <a:headEnd type="none" w="med" len="med"/>
                      <a:tailEnd type="none" w="med" len="med"/>
                    </a:lnL>
                    <a:lnR w="12700" cap="flat" cmpd="sng" algn="ctr">
                      <a:solidFill>
                        <a:srgbClr val="B3B1AB"/>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B3B1AB"/>
                      </a:solidFill>
                      <a:prstDash val="solid"/>
                      <a:round/>
                      <a:headEnd type="none" w="med" len="med"/>
                      <a:tailEnd type="none" w="med" len="med"/>
                    </a:lnB>
                    <a:solidFill>
                      <a:srgbClr val="E0DDD6"/>
                    </a:solidFill>
                  </a:tcPr>
                </a:tc>
                <a:tc>
                  <a:txBody>
                    <a:bodyPr/>
                    <a:lstStyle/>
                    <a:p>
                      <a:pPr marL="0" indent="0">
                        <a:lnSpc>
                          <a:spcPts val="1960"/>
                        </a:lnSpc>
                        <a:buNone/>
                      </a:pPr>
                      <a:r>
                        <a:rPr lang="en-US" sz="1400" b="1" dirty="0">
                          <a:solidFill>
                            <a:srgbClr val="141A16"/>
                          </a:solidFill>
                          <a:latin typeface="DM Sans" pitchFamily="34" charset="0"/>
                          <a:ea typeface="DM Sans" pitchFamily="34" charset="-122"/>
                          <a:cs typeface="DM Sans" pitchFamily="34" charset="-120"/>
                        </a:rPr>
                        <a:t>What we see</a:t>
                      </a:r>
                      <a:endParaRPr lang="en-US" sz="1400" dirty="0">
                        <a:latin typeface="DM Sans" charset="0"/>
                        <a:ea typeface="DM Sans" charset="0"/>
                        <a:cs typeface="DM Sans" charset="0"/>
                      </a:endParaRPr>
                    </a:p>
                  </a:txBody>
                  <a:tcPr marL="62230" marR="62230" marT="62230" marB="62230">
                    <a:lnL w="12700" cap="flat" cmpd="sng" algn="ctr">
                      <a:solidFill>
                        <a:srgbClr val="B3B1AB"/>
                      </a:solidFill>
                      <a:prstDash val="solid"/>
                      <a:round/>
                      <a:headEnd type="none" w="med" len="med"/>
                      <a:tailEnd type="none" w="med" len="med"/>
                    </a:lnL>
                    <a:lnR w="12700" cap="flat" cmpd="sng" algn="ctr">
                      <a:solidFill>
                        <a:srgbClr val="B3B1AB"/>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B3B1AB"/>
                      </a:solidFill>
                      <a:prstDash val="solid"/>
                      <a:round/>
                      <a:headEnd type="none" w="med" len="med"/>
                      <a:tailEnd type="none" w="med" len="med"/>
                    </a:lnB>
                    <a:solidFill>
                      <a:srgbClr val="E0DDD6"/>
                    </a:solidFill>
                  </a:tcPr>
                </a:tc>
                <a:tc>
                  <a:txBody>
                    <a:bodyPr/>
                    <a:lstStyle/>
                    <a:p>
                      <a:pPr marL="0" indent="0">
                        <a:lnSpc>
                          <a:spcPts val="1960"/>
                        </a:lnSpc>
                        <a:buNone/>
                      </a:pPr>
                      <a:r>
                        <a:rPr lang="en-US" sz="1400" b="1" dirty="0">
                          <a:solidFill>
                            <a:srgbClr val="141A16"/>
                          </a:solidFill>
                          <a:latin typeface="DM Sans" pitchFamily="34" charset="0"/>
                          <a:ea typeface="DM Sans" pitchFamily="34" charset="-122"/>
                          <a:cs typeface="DM Sans" pitchFamily="34" charset="-120"/>
                        </a:rPr>
                        <a:t>What they feel</a:t>
                      </a:r>
                      <a:endParaRPr lang="en-US" sz="1400" dirty="0">
                        <a:latin typeface="DM Sans" charset="0"/>
                        <a:ea typeface="DM Sans" charset="0"/>
                        <a:cs typeface="DM Sans" charset="0"/>
                      </a:endParaRPr>
                    </a:p>
                  </a:txBody>
                  <a:tcPr marL="62230" marR="62230" marT="62230" marB="62230">
                    <a:lnL w="12700" cap="flat" cmpd="sng" algn="ctr">
                      <a:solidFill>
                        <a:srgbClr val="B3B1AB"/>
                      </a:solidFill>
                      <a:prstDash val="solid"/>
                      <a:round/>
                      <a:headEnd type="none" w="med" len="med"/>
                      <a:tailEnd type="none" w="med" len="med"/>
                    </a:lnL>
                    <a:lnR w="12700" cap="flat" cmpd="sng" algn="ctr">
                      <a:solidFill>
                        <a:srgbClr val="B3B1AB"/>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B3B1AB"/>
                      </a:solidFill>
                      <a:prstDash val="solid"/>
                      <a:round/>
                      <a:headEnd type="none" w="med" len="med"/>
                      <a:tailEnd type="none" w="med" len="med"/>
                    </a:lnB>
                    <a:solidFill>
                      <a:srgbClr val="E0DDD6"/>
                    </a:solidFill>
                  </a:tcPr>
                </a:tc>
                <a:extLst>
                  <a:ext uri="{0D108BD9-81ED-4DB2-BD59-A6C34878D82A}">
                    <a16:rowId xmlns:a16="http://schemas.microsoft.com/office/drawing/2014/main" val="10000"/>
                  </a:ext>
                </a:extLst>
              </a:tr>
              <a:tr h="634802">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1 · The pause</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B3B1AB"/>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1–2</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B3B1AB"/>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A busy rush-hour street, then the same street empty</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B3B1AB"/>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"I remember this"</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B3B1AB"/>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extLst>
                  <a:ext uri="{0D108BD9-81ED-4DB2-BD59-A6C34878D82A}">
                    <a16:rowId xmlns:a16="http://schemas.microsoft.com/office/drawing/2014/main" val="10001"/>
                  </a:ext>
                </a:extLst>
              </a:tr>
              <a:tr h="634802">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2 · Outside</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3–5</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A green park, a deer crossing an empty road, a clear sky with planes parked</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Surprise: the other side</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extLst>
                  <a:ext uri="{0D108BD9-81ED-4DB2-BD59-A6C34878D82A}">
                    <a16:rowId xmlns:a16="http://schemas.microsoft.com/office/drawing/2014/main" val="10002"/>
                  </a:ext>
                </a:extLst>
              </a:tr>
              <a:tr h="634802">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3 · The choice</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6–8 + end card</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Traffic returns, the 2030 street, a split screen that fades to black</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960"/>
                        </a:lnSpc>
                        <a:buNone/>
                      </a:pPr>
                      <a:r>
                        <a:rPr lang="en-US" sz="1400" dirty="0">
                          <a:solidFill>
                            <a:srgbClr val="141A16"/>
                          </a:solidFill>
                          <a:latin typeface="DM Sans" pitchFamily="34" charset="0"/>
                          <a:ea typeface="DM Sans" pitchFamily="34" charset="-122"/>
                          <a:cs typeface="DM Sans" pitchFamily="34" charset="-120"/>
                        </a:rPr>
                        <a:t>A question to take home</a:t>
                      </a:r>
                      <a:endParaRPr lang="en-US" sz="1400" dirty="0">
                        <a:latin typeface="DM Sans" charset="0"/>
                        <a:ea typeface="DM Sans" charset="0"/>
                        <a:cs typeface="DM Sans" charset="0"/>
                      </a:endParaRPr>
                    </a:p>
                  </a:txBody>
                  <a:tcPr marL="62230" marR="62230" marT="62230" marB="6223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2F6B3D"/>
                </a:solidFill>
                <a:latin typeface="DM Sans" pitchFamily="34" charset="0"/>
                <a:ea typeface="DM Sans" pitchFamily="34" charset="-122"/>
                <a:cs typeface="DM Sans" pitchFamily="34" charset="-120"/>
              </a:rPr>
              <a:t>HOW WE MADE IT</a:t>
            </a:r>
            <a:endParaRPr lang="en-US" sz="1300" dirty="0"/>
          </a:p>
        </p:txBody>
      </p:sp>
      <p:sp>
        <p:nvSpPr>
          <p:cNvPr id="3" name="Text 1"/>
          <p:cNvSpPr>
            <a:spLocks noGrp="1"/>
          </p:cNvSpPr>
          <p:nvPr>
            <p:ph type="title"/>
          </p:nvPr>
        </p:nvSpPr>
        <p:spPr>
          <a:xfrm>
            <a:off x="812800" y="1399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1A16"/>
                </a:solidFill>
                <a:latin typeface="Instrument Serif" pitchFamily="18" charset="0"/>
                <a:ea typeface="Instrument Serif" pitchFamily="18" charset="-122"/>
                <a:cs typeface="Instrument Serif" pitchFamily="18" charset="-120"/>
              </a:rPr>
              <a:t>Every frame and every word comes out of ComfyUI</a:t>
            </a:r>
            <a:endParaRPr lang="en-US" sz="3600" dirty="0"/>
          </a:p>
        </p:txBody>
      </p:sp>
      <p:sp>
        <p:nvSpPr>
          <p:cNvPr id="4" name="Shape 2"/>
          <p:cNvSpPr/>
          <p:nvPr/>
        </p:nvSpPr>
        <p:spPr>
          <a:xfrm>
            <a:off x="815975" y="2363887"/>
            <a:ext cx="2216150" cy="1128911"/>
          </a:xfrm>
          <a:prstGeom prst="roundRect">
            <a:avLst>
              <a:gd name="adj" fmla="val 8719"/>
            </a:avLst>
          </a:prstGeom>
          <a:solidFill>
            <a:srgbClr val="FBFAF6"/>
          </a:solidFill>
          <a:ln w="6350">
            <a:solidFill>
              <a:srgbClr val="DCD7CA"/>
            </a:solidFill>
            <a:prstDash val="solid"/>
          </a:ln>
        </p:spPr>
        <p:txBody>
          <a:bodyPr/>
          <a:lstStyle/>
          <a:p>
            <a:endParaRPr lang="en-NL"/>
          </a:p>
        </p:txBody>
      </p:sp>
      <p:sp>
        <p:nvSpPr>
          <p:cNvPr id="5" name="Text 3"/>
          <p:cNvSpPr/>
          <p:nvPr/>
        </p:nvSpPr>
        <p:spPr>
          <a:xfrm>
            <a:off x="1022350" y="2570262"/>
            <a:ext cx="18575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1A16"/>
                </a:solidFill>
                <a:latin typeface="DM Sans" pitchFamily="34" charset="0"/>
                <a:ea typeface="DM Sans" pitchFamily="34" charset="-122"/>
                <a:cs typeface="DM Sans" pitchFamily="34" charset="-120"/>
              </a:rPr>
              <a:t>Shot list</a:t>
            </a:r>
            <a:endParaRPr lang="en-US" sz="1500" dirty="0"/>
          </a:p>
        </p:txBody>
      </p:sp>
      <p:sp>
        <p:nvSpPr>
          <p:cNvPr id="6" name="Text 4"/>
          <p:cNvSpPr/>
          <p:nvPr/>
        </p:nvSpPr>
        <p:spPr>
          <a:xfrm>
            <a:off x="1022350" y="2875062"/>
            <a:ext cx="1857502"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24B"/>
                </a:solidFill>
                <a:latin typeface="DM Sans" pitchFamily="34" charset="0"/>
                <a:ea typeface="DM Sans" pitchFamily="34" charset="-122"/>
                <a:cs typeface="DM Sans" pitchFamily="34" charset="-120"/>
              </a:rPr>
              <a:t>One prompt and seed per shot</a:t>
            </a:r>
            <a:endParaRPr lang="en-US" sz="1200" dirty="0"/>
          </a:p>
        </p:txBody>
      </p:sp>
      <p:sp>
        <p:nvSpPr>
          <p:cNvPr id="8" name="Shape 5"/>
          <p:cNvSpPr/>
          <p:nvPr/>
        </p:nvSpPr>
        <p:spPr>
          <a:xfrm>
            <a:off x="3597275" y="2261096"/>
            <a:ext cx="2216150" cy="1334591"/>
          </a:xfrm>
          <a:prstGeom prst="roundRect">
            <a:avLst>
              <a:gd name="adj" fmla="val 7375"/>
            </a:avLst>
          </a:prstGeom>
          <a:solidFill>
            <a:srgbClr val="FBFAF6"/>
          </a:solidFill>
          <a:ln w="6350">
            <a:solidFill>
              <a:srgbClr val="DCD7CA"/>
            </a:solidFill>
            <a:prstDash val="solid"/>
          </a:ln>
        </p:spPr>
        <p:txBody>
          <a:bodyPr/>
          <a:lstStyle/>
          <a:p>
            <a:endParaRPr lang="en-NL"/>
          </a:p>
        </p:txBody>
      </p:sp>
      <p:sp>
        <p:nvSpPr>
          <p:cNvPr id="9" name="Text 6"/>
          <p:cNvSpPr/>
          <p:nvPr/>
        </p:nvSpPr>
        <p:spPr>
          <a:xfrm>
            <a:off x="3803650" y="2467471"/>
            <a:ext cx="18575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1A16"/>
                </a:solidFill>
                <a:latin typeface="DM Sans" pitchFamily="34" charset="0"/>
                <a:ea typeface="DM Sans" pitchFamily="34" charset="-122"/>
                <a:cs typeface="DM Sans" pitchFamily="34" charset="-120"/>
              </a:rPr>
              <a:t>MiniMax H3</a:t>
            </a:r>
            <a:endParaRPr lang="en-US" sz="1500" dirty="0"/>
          </a:p>
        </p:txBody>
      </p:sp>
      <p:sp>
        <p:nvSpPr>
          <p:cNvPr id="10" name="Text 7"/>
          <p:cNvSpPr/>
          <p:nvPr/>
        </p:nvSpPr>
        <p:spPr>
          <a:xfrm>
            <a:off x="3803650" y="2772271"/>
            <a:ext cx="1857502"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24B"/>
                </a:solidFill>
                <a:latin typeface="DM Sans" pitchFamily="34" charset="0"/>
                <a:ea typeface="DM Sans" pitchFamily="34" charset="-122"/>
                <a:cs typeface="DM Sans" pitchFamily="34" charset="-120"/>
              </a:rPr>
              <a:t>Text-to-video in ComfyUI, on own GPU</a:t>
            </a:r>
            <a:endParaRPr lang="en-US" sz="1200" dirty="0"/>
          </a:p>
        </p:txBody>
      </p:sp>
      <p:sp>
        <p:nvSpPr>
          <p:cNvPr id="12" name="Shape 8"/>
          <p:cNvSpPr/>
          <p:nvPr/>
        </p:nvSpPr>
        <p:spPr>
          <a:xfrm>
            <a:off x="6378575" y="2282317"/>
            <a:ext cx="2216150" cy="1292050"/>
          </a:xfrm>
          <a:prstGeom prst="roundRect">
            <a:avLst>
              <a:gd name="adj" fmla="val 8719"/>
            </a:avLst>
          </a:prstGeom>
          <a:solidFill>
            <a:srgbClr val="FBFAF6"/>
          </a:solidFill>
          <a:ln w="6350">
            <a:solidFill>
              <a:srgbClr val="DCD7CA"/>
            </a:solidFill>
            <a:prstDash val="solid"/>
          </a:ln>
        </p:spPr>
        <p:txBody>
          <a:bodyPr/>
          <a:lstStyle/>
          <a:p>
            <a:endParaRPr lang="en-NL"/>
          </a:p>
        </p:txBody>
      </p:sp>
      <p:sp>
        <p:nvSpPr>
          <p:cNvPr id="13" name="Text 9"/>
          <p:cNvSpPr/>
          <p:nvPr/>
        </p:nvSpPr>
        <p:spPr>
          <a:xfrm>
            <a:off x="6584950" y="2529979"/>
            <a:ext cx="18575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1A16"/>
                </a:solidFill>
                <a:latin typeface="DM Sans" pitchFamily="34" charset="0"/>
                <a:ea typeface="DM Sans" pitchFamily="34" charset="-122"/>
                <a:cs typeface="DM Sans" pitchFamily="34" charset="-120"/>
              </a:rPr>
              <a:t>Kokoro</a:t>
            </a:r>
            <a:endParaRPr lang="en-US" sz="1500" dirty="0"/>
          </a:p>
        </p:txBody>
      </p:sp>
      <p:sp>
        <p:nvSpPr>
          <p:cNvPr id="14" name="Text 10"/>
          <p:cNvSpPr/>
          <p:nvPr/>
        </p:nvSpPr>
        <p:spPr>
          <a:xfrm>
            <a:off x="6584950" y="2875062"/>
            <a:ext cx="1857502"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24B"/>
                </a:solidFill>
                <a:latin typeface="DM Sans" pitchFamily="34" charset="0"/>
                <a:ea typeface="DM Sans" pitchFamily="34" charset="-122"/>
                <a:cs typeface="DM Sans" pitchFamily="34" charset="-120"/>
              </a:rPr>
              <a:t>Local text-to-speech in ComfyUI for the voice</a:t>
            </a:r>
            <a:endParaRPr lang="en-US" sz="1200" dirty="0"/>
          </a:p>
        </p:txBody>
      </p:sp>
      <p:sp>
        <p:nvSpPr>
          <p:cNvPr id="23" name="Shape 2">
            <a:extLst>
              <a:ext uri="{FF2B5EF4-FFF2-40B4-BE49-F238E27FC236}">
                <a16:creationId xmlns:a16="http://schemas.microsoft.com/office/drawing/2014/main" id="{07E94F55-E479-B0C1-1913-CAD3E2F69099}"/>
              </a:ext>
            </a:extLst>
          </p:cNvPr>
          <p:cNvSpPr/>
          <p:nvPr/>
        </p:nvSpPr>
        <p:spPr>
          <a:xfrm>
            <a:off x="812800" y="3699173"/>
            <a:ext cx="2216150" cy="1128911"/>
          </a:xfrm>
          <a:prstGeom prst="roundRect">
            <a:avLst>
              <a:gd name="adj" fmla="val 8719"/>
            </a:avLst>
          </a:prstGeom>
          <a:solidFill>
            <a:srgbClr val="FBFAF6"/>
          </a:solidFill>
          <a:ln w="6350">
            <a:solidFill>
              <a:srgbClr val="DCD7CA"/>
            </a:solidFill>
            <a:prstDash val="solid"/>
          </a:ln>
        </p:spPr>
        <p:txBody>
          <a:bodyPr/>
          <a:lstStyle/>
          <a:p>
            <a:endParaRPr lang="en-NL" dirty="0"/>
          </a:p>
        </p:txBody>
      </p:sp>
      <p:sp>
        <p:nvSpPr>
          <p:cNvPr id="33" name="Text 3">
            <a:extLst>
              <a:ext uri="{FF2B5EF4-FFF2-40B4-BE49-F238E27FC236}">
                <a16:creationId xmlns:a16="http://schemas.microsoft.com/office/drawing/2014/main" id="{56A07BB3-6389-BE3F-73AA-9B39E0949F52}"/>
              </a:ext>
            </a:extLst>
          </p:cNvPr>
          <p:cNvSpPr/>
          <p:nvPr/>
        </p:nvSpPr>
        <p:spPr>
          <a:xfrm>
            <a:off x="992124" y="3880460"/>
            <a:ext cx="18575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1A16"/>
                </a:solidFill>
                <a:latin typeface="DM Sans" pitchFamily="34" charset="0"/>
                <a:ea typeface="DM Sans" pitchFamily="34" charset="-122"/>
                <a:cs typeface="DM Sans" pitchFamily="34" charset="-120"/>
              </a:rPr>
              <a:t>Claude</a:t>
            </a:r>
            <a:endParaRPr lang="en-US" sz="1500" dirty="0"/>
          </a:p>
        </p:txBody>
      </p:sp>
      <p:sp>
        <p:nvSpPr>
          <p:cNvPr id="35" name="Text 4">
            <a:extLst>
              <a:ext uri="{FF2B5EF4-FFF2-40B4-BE49-F238E27FC236}">
                <a16:creationId xmlns:a16="http://schemas.microsoft.com/office/drawing/2014/main" id="{ADAD519E-6007-D369-DBD6-6D5708CB9CD6}"/>
              </a:ext>
            </a:extLst>
          </p:cNvPr>
          <p:cNvSpPr/>
          <p:nvPr/>
        </p:nvSpPr>
        <p:spPr>
          <a:xfrm>
            <a:off x="992124" y="4204997"/>
            <a:ext cx="1857502" cy="436761"/>
          </a:xfrm>
          <a:prstGeom prst="rect">
            <a:avLst/>
          </a:prstGeom>
          <a:noFill/>
          <a:ln/>
        </p:spPr>
        <p:txBody>
          <a:bodyPr wrap="square" lIns="0" tIns="0" rIns="0" bIns="0" rtlCol="0" anchor="t">
            <a:normAutofit/>
          </a:bodyPr>
          <a:lstStyle/>
          <a:p>
            <a:pPr>
              <a:lnSpc>
                <a:spcPts val="1620"/>
              </a:lnSpc>
            </a:pPr>
            <a:r>
              <a:rPr lang="en-US" sz="1200" dirty="0">
                <a:solidFill>
                  <a:srgbClr val="46524B"/>
                </a:solidFill>
                <a:latin typeface="DM Sans" pitchFamily="34" charset="0"/>
              </a:rPr>
              <a:t>Managed all the settings and filled in prompt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bg>
      <p:bgPr>
        <a:solidFill>
          <a:srgbClr val="11161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8DC891"/>
                </a:solidFill>
                <a:latin typeface="DM Sans" pitchFamily="34" charset="0"/>
                <a:ea typeface="DM Sans" pitchFamily="34" charset="-122"/>
                <a:cs typeface="DM Sans" pitchFamily="34" charset="-120"/>
              </a:rPr>
              <a:t>PROBLEM–SOLUTION FIT</a:t>
            </a:r>
            <a:endParaRPr lang="en-US" sz="1300" dirty="0"/>
          </a:p>
        </p:txBody>
      </p:sp>
      <p:sp>
        <p:nvSpPr>
          <p:cNvPr id="3" name="Text 1"/>
          <p:cNvSpPr>
            <a:spLocks noGrp="1"/>
          </p:cNvSpPr>
          <p:nvPr>
            <p:ph type="title"/>
          </p:nvPr>
        </p:nvSpPr>
        <p:spPr>
          <a:xfrm>
            <a:off x="812800" y="13486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EEEBE2"/>
                </a:solidFill>
                <a:latin typeface="Instrument Serif" pitchFamily="18" charset="0"/>
                <a:ea typeface="Instrument Serif" pitchFamily="18" charset="-122"/>
                <a:cs typeface="Instrument Serif" pitchFamily="18" charset="-120"/>
              </a:rPr>
              <a:t>Why 35 seconds can reach them</a:t>
            </a:r>
            <a:endParaRPr lang="en-US" sz="3600" dirty="0"/>
          </a:p>
        </p:txBody>
      </p:sp>
      <p:sp>
        <p:nvSpPr>
          <p:cNvPr id="4" name="Shape 2"/>
          <p:cNvSpPr/>
          <p:nvPr/>
        </p:nvSpPr>
        <p:spPr>
          <a:xfrm>
            <a:off x="812800" y="2162671"/>
            <a:ext cx="5283200" cy="0"/>
          </a:xfrm>
          <a:prstGeom prst="line">
            <a:avLst/>
          </a:prstGeom>
          <a:noFill/>
          <a:ln w="12700">
            <a:solidFill>
              <a:srgbClr val="3A4540"/>
            </a:solidFill>
            <a:prstDash val="solid"/>
          </a:ln>
        </p:spPr>
        <p:txBody>
          <a:bodyPr/>
          <a:lstStyle/>
          <a:p>
            <a:endParaRPr lang="en-NL"/>
          </a:p>
        </p:txBody>
      </p:sp>
      <p:sp>
        <p:nvSpPr>
          <p:cNvPr id="5" name="Text 3"/>
          <p:cNvSpPr/>
          <p:nvPr/>
        </p:nvSpPr>
        <p:spPr>
          <a:xfrm>
            <a:off x="812800" y="2346821"/>
            <a:ext cx="544169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DC891"/>
                </a:solidFill>
                <a:latin typeface="DM Sans" pitchFamily="34" charset="0"/>
                <a:ea typeface="DM Sans" pitchFamily="34" charset="-122"/>
                <a:cs typeface="DM Sans" pitchFamily="34" charset="-120"/>
              </a:rPr>
              <a:t>It starts where they are</a:t>
            </a:r>
            <a:endParaRPr lang="en-US" sz="1800" dirty="0"/>
          </a:p>
        </p:txBody>
      </p:sp>
      <p:sp>
        <p:nvSpPr>
          <p:cNvPr id="6" name="Text 4"/>
          <p:cNvSpPr/>
          <p:nvPr/>
        </p:nvSpPr>
        <p:spPr>
          <a:xfrm>
            <a:off x="812800" y="2697262"/>
            <a:ext cx="544169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5AE"/>
                </a:solidFill>
                <a:latin typeface="DM Sans" pitchFamily="34" charset="0"/>
                <a:ea typeface="DM Sans" pitchFamily="34" charset="-122"/>
                <a:cs typeface="DM Sans" pitchFamily="34" charset="-120"/>
              </a:rPr>
              <a:t>The film first names the loss and the restrictions, so they feel seen, not lectured.</a:t>
            </a:r>
            <a:endParaRPr lang="en-US" sz="1400" dirty="0"/>
          </a:p>
        </p:txBody>
      </p:sp>
      <p:sp>
        <p:nvSpPr>
          <p:cNvPr id="7" name="Shape 5"/>
          <p:cNvSpPr/>
          <p:nvPr/>
        </p:nvSpPr>
        <p:spPr>
          <a:xfrm>
            <a:off x="6096000" y="2162671"/>
            <a:ext cx="5283200" cy="0"/>
          </a:xfrm>
          <a:prstGeom prst="line">
            <a:avLst/>
          </a:prstGeom>
          <a:noFill/>
          <a:ln w="12700">
            <a:solidFill>
              <a:srgbClr val="3A4540"/>
            </a:solidFill>
            <a:prstDash val="solid"/>
          </a:ln>
        </p:spPr>
        <p:txBody>
          <a:bodyPr/>
          <a:lstStyle/>
          <a:p>
            <a:endParaRPr lang="en-NL"/>
          </a:p>
        </p:txBody>
      </p:sp>
      <p:sp>
        <p:nvSpPr>
          <p:cNvPr id="8" name="Text 6"/>
          <p:cNvSpPr/>
          <p:nvPr/>
        </p:nvSpPr>
        <p:spPr>
          <a:xfrm>
            <a:off x="6096000" y="2346821"/>
            <a:ext cx="544169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DC891"/>
                </a:solidFill>
                <a:latin typeface="DM Sans" pitchFamily="34" charset="0"/>
                <a:ea typeface="DM Sans" pitchFamily="34" charset="-122"/>
                <a:cs typeface="DM Sans" pitchFamily="34" charset="-120"/>
              </a:rPr>
              <a:t>One street, before and after</a:t>
            </a:r>
            <a:endParaRPr lang="en-US" sz="1800" dirty="0"/>
          </a:p>
        </p:txBody>
      </p:sp>
      <p:sp>
        <p:nvSpPr>
          <p:cNvPr id="9" name="Text 7"/>
          <p:cNvSpPr/>
          <p:nvPr/>
        </p:nvSpPr>
        <p:spPr>
          <a:xfrm>
            <a:off x="6096000" y="2697262"/>
            <a:ext cx="544169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5AE"/>
                </a:solidFill>
                <a:latin typeface="DM Sans" pitchFamily="34" charset="0"/>
                <a:ea typeface="DM Sans" pitchFamily="34" charset="-122"/>
                <a:cs typeface="DM Sans" pitchFamily="34" charset="-120"/>
              </a:rPr>
              <a:t>The change is visible at a glance. No charts, no prior knowledge needed.</a:t>
            </a:r>
            <a:endParaRPr lang="en-US" sz="1400" dirty="0"/>
          </a:p>
        </p:txBody>
      </p:sp>
      <p:sp>
        <p:nvSpPr>
          <p:cNvPr id="10" name="Shape 8"/>
          <p:cNvSpPr/>
          <p:nvPr/>
        </p:nvSpPr>
        <p:spPr>
          <a:xfrm>
            <a:off x="812800" y="3201293"/>
            <a:ext cx="5283200" cy="0"/>
          </a:xfrm>
          <a:prstGeom prst="line">
            <a:avLst/>
          </a:prstGeom>
          <a:noFill/>
          <a:ln w="12700">
            <a:solidFill>
              <a:srgbClr val="3A4540"/>
            </a:solidFill>
            <a:prstDash val="solid"/>
          </a:ln>
        </p:spPr>
        <p:txBody>
          <a:bodyPr/>
          <a:lstStyle/>
          <a:p>
            <a:endParaRPr lang="en-NL"/>
          </a:p>
        </p:txBody>
      </p:sp>
      <p:sp>
        <p:nvSpPr>
          <p:cNvPr id="11" name="Text 9"/>
          <p:cNvSpPr/>
          <p:nvPr/>
        </p:nvSpPr>
        <p:spPr>
          <a:xfrm>
            <a:off x="812800" y="3385443"/>
            <a:ext cx="544169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DC891"/>
                </a:solidFill>
                <a:latin typeface="DM Sans" pitchFamily="34" charset="0"/>
                <a:ea typeface="DM Sans" pitchFamily="34" charset="-122"/>
                <a:cs typeface="DM Sans" pitchFamily="34" charset="-120"/>
              </a:rPr>
              <a:t>Hope tied to a real plan</a:t>
            </a:r>
            <a:endParaRPr lang="en-US" sz="1800" dirty="0"/>
          </a:p>
        </p:txBody>
      </p:sp>
      <p:sp>
        <p:nvSpPr>
          <p:cNvPr id="12" name="Text 10"/>
          <p:cNvSpPr/>
          <p:nvPr/>
        </p:nvSpPr>
        <p:spPr>
          <a:xfrm>
            <a:off x="812800" y="3735884"/>
            <a:ext cx="544169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5AE"/>
                </a:solidFill>
                <a:latin typeface="DM Sans" pitchFamily="34" charset="0"/>
                <a:ea typeface="DM Sans" pitchFamily="34" charset="-122"/>
                <a:cs typeface="DM Sans" pitchFamily="34" charset="-120"/>
              </a:rPr>
              <a:t>The 2030 street links the feeling to the EU's −55% target.</a:t>
            </a:r>
            <a:endParaRPr lang="en-US" sz="1400" dirty="0"/>
          </a:p>
        </p:txBody>
      </p:sp>
      <p:sp>
        <p:nvSpPr>
          <p:cNvPr id="13" name="Shape 11"/>
          <p:cNvSpPr/>
          <p:nvPr/>
        </p:nvSpPr>
        <p:spPr>
          <a:xfrm>
            <a:off x="6096000" y="3201293"/>
            <a:ext cx="5283200" cy="0"/>
          </a:xfrm>
          <a:prstGeom prst="line">
            <a:avLst/>
          </a:prstGeom>
          <a:noFill/>
          <a:ln w="12700">
            <a:solidFill>
              <a:srgbClr val="3A4540"/>
            </a:solidFill>
            <a:prstDash val="solid"/>
          </a:ln>
        </p:spPr>
        <p:txBody>
          <a:bodyPr/>
          <a:lstStyle/>
          <a:p>
            <a:endParaRPr lang="en-NL"/>
          </a:p>
        </p:txBody>
      </p:sp>
      <p:sp>
        <p:nvSpPr>
          <p:cNvPr id="14" name="Text 12"/>
          <p:cNvSpPr/>
          <p:nvPr/>
        </p:nvSpPr>
        <p:spPr>
          <a:xfrm>
            <a:off x="6096000" y="3385443"/>
            <a:ext cx="544169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DC891"/>
                </a:solidFill>
                <a:latin typeface="DM Sans" pitchFamily="34" charset="0"/>
                <a:ea typeface="DM Sans" pitchFamily="34" charset="-122"/>
                <a:cs typeface="DM Sans" pitchFamily="34" charset="-120"/>
              </a:rPr>
              <a:t>It ends on a question</a:t>
            </a:r>
            <a:endParaRPr lang="en-US" sz="1800" dirty="0"/>
          </a:p>
        </p:txBody>
      </p:sp>
      <p:sp>
        <p:nvSpPr>
          <p:cNvPr id="15" name="Text 13"/>
          <p:cNvSpPr/>
          <p:nvPr/>
        </p:nvSpPr>
        <p:spPr>
          <a:xfrm>
            <a:off x="6096000" y="3735884"/>
            <a:ext cx="544169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5AE"/>
                </a:solidFill>
                <a:latin typeface="DM Sans" pitchFamily="34" charset="0"/>
                <a:ea typeface="DM Sans" pitchFamily="34" charset="-122"/>
                <a:cs typeface="DM Sans" pitchFamily="34" charset="-120"/>
              </a:rPr>
              <a:t>No answer is given, so the film keeps working after it ends.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2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2F6B3D"/>
                </a:solidFill>
                <a:latin typeface="DM Sans" pitchFamily="34" charset="0"/>
                <a:ea typeface="DM Sans" pitchFamily="34" charset="-122"/>
                <a:cs typeface="DM Sans" pitchFamily="34" charset="-120"/>
              </a:rPr>
              <a:t>ETHICAL REASONING</a:t>
            </a:r>
            <a:endParaRPr lang="en-US" sz="1300" dirty="0"/>
          </a:p>
        </p:txBody>
      </p:sp>
      <p:sp>
        <p:nvSpPr>
          <p:cNvPr id="3" name="Text 1"/>
          <p:cNvSpPr>
            <a:spLocks noGrp="1"/>
          </p:cNvSpPr>
          <p:nvPr>
            <p:ph type="title"/>
          </p:nvPr>
        </p:nvSpPr>
        <p:spPr>
          <a:xfrm>
            <a:off x="812800" y="12978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1A16"/>
                </a:solidFill>
                <a:latin typeface="Instrument Serif" pitchFamily="18" charset="0"/>
                <a:ea typeface="Instrument Serif" pitchFamily="18" charset="-122"/>
                <a:cs typeface="Instrument Serif" pitchFamily="18" charset="-120"/>
              </a:rPr>
              <a:t>Risks of this film, and what we did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67421"/>
          <a:ext cx="10553700" cy="2155626"/>
        </p:xfrm>
        <a:graphic>
          <a:graphicData uri="http://schemas.openxmlformats.org/drawingml/2006/table">
            <a:tbl>
              <a:tblPr/>
              <a:tblGrid>
                <a:gridCol w="2532888">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141A16"/>
                          </a:solidFill>
                          <a:latin typeface="DM Sans" pitchFamily="34" charset="0"/>
                          <a:ea typeface="DM Sans" pitchFamily="34" charset="-122"/>
                          <a:cs typeface="DM Sans" pitchFamily="34" charset="-120"/>
                        </a:rPr>
                        <a:t>Risk</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B3B1AB"/>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B3B1AB"/>
                      </a:solidFill>
                      <a:prstDash val="solid"/>
                      <a:round/>
                      <a:headEnd type="none" w="med" len="med"/>
                      <a:tailEnd type="none" w="med" len="med"/>
                    </a:lnB>
                    <a:solidFill>
                      <a:srgbClr val="E0DDD6"/>
                    </a:solidFill>
                  </a:tcPr>
                </a:tc>
                <a:tc>
                  <a:txBody>
                    <a:bodyPr/>
                    <a:lstStyle/>
                    <a:p>
                      <a:pPr marL="0" indent="0">
                        <a:lnSpc>
                          <a:spcPts val="1820"/>
                        </a:lnSpc>
                        <a:buNone/>
                      </a:pPr>
                      <a:r>
                        <a:rPr lang="en-US" sz="1300" b="1" dirty="0">
                          <a:solidFill>
                            <a:srgbClr val="141A16"/>
                          </a:solidFill>
                          <a:latin typeface="DM Sans" pitchFamily="34" charset="0"/>
                          <a:ea typeface="DM Sans" pitchFamily="34" charset="-122"/>
                          <a:cs typeface="DM Sans" pitchFamily="34" charset="-120"/>
                        </a:rPr>
                        <a:t>Consequence for the audience</a:t>
                      </a:r>
                      <a:endParaRPr lang="en-US" sz="1300" dirty="0">
                        <a:latin typeface="DM Sans" charset="0"/>
                        <a:ea typeface="DM Sans" charset="0"/>
                        <a:cs typeface="DM Sans" charset="0"/>
                      </a:endParaRPr>
                    </a:p>
                  </a:txBody>
                  <a:tcPr marL="57785" marR="57785" marT="57785" marB="57785">
                    <a:lnL w="12700" cap="flat" cmpd="sng" algn="ctr">
                      <a:solidFill>
                        <a:srgbClr val="B3B1AB"/>
                      </a:solidFill>
                      <a:prstDash val="solid"/>
                      <a:round/>
                      <a:headEnd type="none" w="med" len="med"/>
                      <a:tailEnd type="none" w="med" len="med"/>
                    </a:lnL>
                    <a:lnR w="12700" cap="flat" cmpd="sng" algn="ctr">
                      <a:solidFill>
                        <a:srgbClr val="B3B1AB"/>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B3B1AB"/>
                      </a:solidFill>
                      <a:prstDash val="solid"/>
                      <a:round/>
                      <a:headEnd type="none" w="med" len="med"/>
                      <a:tailEnd type="none" w="med" len="med"/>
                    </a:lnB>
                    <a:solidFill>
                      <a:srgbClr val="E0DDD6"/>
                    </a:solidFill>
                  </a:tcPr>
                </a:tc>
                <a:tc>
                  <a:txBody>
                    <a:bodyPr/>
                    <a:lstStyle/>
                    <a:p>
                      <a:pPr marL="0" indent="0">
                        <a:lnSpc>
                          <a:spcPts val="1820"/>
                        </a:lnSpc>
                        <a:buNone/>
                      </a:pPr>
                      <a:r>
                        <a:rPr lang="en-US" sz="1300" b="1" dirty="0">
                          <a:solidFill>
                            <a:srgbClr val="141A16"/>
                          </a:solidFill>
                          <a:latin typeface="DM Sans" pitchFamily="34" charset="0"/>
                          <a:ea typeface="DM Sans" pitchFamily="34" charset="-122"/>
                          <a:cs typeface="DM Sans" pitchFamily="34" charset="-120"/>
                        </a:rPr>
                        <a:t>What we did in the film</a:t>
                      </a:r>
                      <a:endParaRPr lang="en-US" sz="1300" dirty="0">
                        <a:latin typeface="DM Sans" charset="0"/>
                        <a:ea typeface="DM Sans" charset="0"/>
                        <a:cs typeface="DM Sans" charset="0"/>
                      </a:endParaRPr>
                    </a:p>
                  </a:txBody>
                  <a:tcPr marL="57785" marR="57785" marT="57785" marB="57785">
                    <a:lnL w="12700" cap="flat" cmpd="sng" algn="ctr">
                      <a:solidFill>
                        <a:srgbClr val="B3B1AB"/>
                      </a:solidFill>
                      <a:prstDash val="solid"/>
                      <a:round/>
                      <a:headEnd type="none" w="med" len="med"/>
                      <a:tailEnd type="none" w="med" len="med"/>
                    </a:lnL>
                    <a:lnR w="12700" cap="flat" cmpd="sng" algn="ctr">
                      <a:solidFill>
                        <a:srgbClr val="B3B1AB"/>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B3B1AB"/>
                      </a:solidFill>
                      <a:prstDash val="solid"/>
                      <a:round/>
                      <a:headEnd type="none" w="med" len="med"/>
                      <a:tailEnd type="none" w="med" len="med"/>
                    </a:lnB>
                    <a:solidFill>
                      <a:srgbClr val="E0DDD6"/>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Glorifying a pandemic</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B3B1AB"/>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Hurts people who lost someone</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B3B1AB"/>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Shot 2 names the loss; it's a lesson, not a silver lining</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B3B1AB"/>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Overclaiming science</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They think nature "healed"</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Shot 6 shows the effects disappearing again</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AI footage seen as real</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Fake "evidence" spreads</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[Label: AI-generated, in film and description]</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Not everyone could pause</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Hides essential workers and inequality</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[One street, not "the world"; noted in README]</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Energy to generate</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Climate film with a footprint</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tc>
                  <a:txBody>
                    <a:bodyPr/>
                    <a:lstStyle/>
                    <a:p>
                      <a:pPr marL="0" indent="0">
                        <a:lnSpc>
                          <a:spcPts val="1820"/>
                        </a:lnSpc>
                        <a:buNone/>
                      </a:pPr>
                      <a:r>
                        <a:rPr lang="en-US" sz="1300" dirty="0">
                          <a:solidFill>
                            <a:srgbClr val="141A16"/>
                          </a:solidFill>
                          <a:latin typeface="DM Sans" pitchFamily="34" charset="0"/>
                          <a:ea typeface="DM Sans" pitchFamily="34" charset="-122"/>
                          <a:cs typeface="DM Sans" pitchFamily="34" charset="-120"/>
                        </a:rPr>
                        <a:t>Turbo drafts, one full-quality render per shot</a:t>
                      </a:r>
                      <a:endParaRPr lang="en-US" sz="1300" dirty="0">
                        <a:latin typeface="DM Sans" charset="0"/>
                        <a:ea typeface="DM Sans" charset="0"/>
                        <a:cs typeface="DM Sans" charset="0"/>
                      </a:endParaRPr>
                    </a:p>
                  </a:txBody>
                  <a:tcPr marL="57785" marR="57785" marT="57785" marB="57785">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1BFB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61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8DC891"/>
                </a:solidFill>
                <a:latin typeface="DM Sans" pitchFamily="34" charset="0"/>
                <a:ea typeface="DM Sans" pitchFamily="34" charset="-122"/>
                <a:cs typeface="DM Sans" pitchFamily="34" charset="-120"/>
              </a:rPr>
              <a:t>WHAT WE LEARNED</a:t>
            </a:r>
            <a:endParaRPr lang="en-US" sz="1300" dirty="0"/>
          </a:p>
        </p:txBody>
      </p:sp>
      <p:sp>
        <p:nvSpPr>
          <p:cNvPr id="3" name="Text 1"/>
          <p:cNvSpPr>
            <a:spLocks noGrp="1"/>
          </p:cNvSpPr>
          <p:nvPr>
            <p:ph type="title"/>
          </p:nvPr>
        </p:nvSpPr>
        <p:spPr>
          <a:xfrm>
            <a:off x="812800" y="13486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EEEBE2"/>
                </a:solidFill>
                <a:latin typeface="Instrument Serif" pitchFamily="18" charset="0"/>
                <a:ea typeface="Instrument Serif" pitchFamily="18" charset="-122"/>
                <a:cs typeface="Instrument Serif" pitchFamily="18" charset="-120"/>
              </a:rPr>
              <a:t>Prompting video is directing</a:t>
            </a:r>
            <a:endParaRPr lang="en-US" sz="3600" dirty="0"/>
          </a:p>
        </p:txBody>
      </p:sp>
      <p:sp>
        <p:nvSpPr>
          <p:cNvPr id="4" name="Shape 2"/>
          <p:cNvSpPr/>
          <p:nvPr/>
        </p:nvSpPr>
        <p:spPr>
          <a:xfrm>
            <a:off x="812800" y="2162671"/>
            <a:ext cx="5283200" cy="0"/>
          </a:xfrm>
          <a:prstGeom prst="line">
            <a:avLst/>
          </a:prstGeom>
          <a:noFill/>
          <a:ln w="12700">
            <a:solidFill>
              <a:srgbClr val="3A4540"/>
            </a:solidFill>
            <a:prstDash val="solid"/>
          </a:ln>
        </p:spPr>
        <p:txBody>
          <a:bodyPr/>
          <a:lstStyle/>
          <a:p>
            <a:endParaRPr lang="en-NL"/>
          </a:p>
        </p:txBody>
      </p:sp>
      <p:sp>
        <p:nvSpPr>
          <p:cNvPr id="5" name="Text 3"/>
          <p:cNvSpPr/>
          <p:nvPr/>
        </p:nvSpPr>
        <p:spPr>
          <a:xfrm>
            <a:off x="812800" y="2346821"/>
            <a:ext cx="544169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DC891"/>
                </a:solidFill>
                <a:latin typeface="DM Sans" pitchFamily="34" charset="0"/>
                <a:ea typeface="DM Sans" pitchFamily="34" charset="-122"/>
                <a:cs typeface="DM Sans" pitchFamily="34" charset="-120"/>
              </a:rPr>
              <a:t>Write it like a shot list</a:t>
            </a:r>
            <a:endParaRPr lang="en-US" sz="1800" dirty="0"/>
          </a:p>
        </p:txBody>
      </p:sp>
      <p:sp>
        <p:nvSpPr>
          <p:cNvPr id="6" name="Text 4"/>
          <p:cNvSpPr/>
          <p:nvPr/>
        </p:nvSpPr>
        <p:spPr>
          <a:xfrm>
            <a:off x="812800" y="2697262"/>
            <a:ext cx="544169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5AE"/>
                </a:solidFill>
                <a:latin typeface="DM Sans" pitchFamily="34" charset="0"/>
                <a:ea typeface="DM Sans" pitchFamily="34" charset="-122"/>
                <a:cs typeface="DM Sans" pitchFamily="34" charset="-120"/>
              </a:rPr>
              <a:t>Look, scene, camera and sound each in words. Vague prompts gave vague shots.</a:t>
            </a:r>
            <a:endParaRPr lang="en-US" sz="1400" dirty="0"/>
          </a:p>
        </p:txBody>
      </p:sp>
      <p:sp>
        <p:nvSpPr>
          <p:cNvPr id="7" name="Shape 5"/>
          <p:cNvSpPr/>
          <p:nvPr/>
        </p:nvSpPr>
        <p:spPr>
          <a:xfrm>
            <a:off x="6096000" y="2162671"/>
            <a:ext cx="5283200" cy="0"/>
          </a:xfrm>
          <a:prstGeom prst="line">
            <a:avLst/>
          </a:prstGeom>
          <a:noFill/>
          <a:ln w="12700">
            <a:solidFill>
              <a:srgbClr val="3A4540"/>
            </a:solidFill>
            <a:prstDash val="solid"/>
          </a:ln>
        </p:spPr>
        <p:txBody>
          <a:bodyPr/>
          <a:lstStyle/>
          <a:p>
            <a:endParaRPr lang="en-NL"/>
          </a:p>
        </p:txBody>
      </p:sp>
      <p:sp>
        <p:nvSpPr>
          <p:cNvPr id="8" name="Text 6"/>
          <p:cNvSpPr/>
          <p:nvPr/>
        </p:nvSpPr>
        <p:spPr>
          <a:xfrm>
            <a:off x="6096000" y="2346821"/>
            <a:ext cx="544169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DC891"/>
                </a:solidFill>
                <a:latin typeface="DM Sans" pitchFamily="34" charset="0"/>
                <a:ea typeface="DM Sans" pitchFamily="34" charset="-122"/>
                <a:cs typeface="DM Sans" pitchFamily="34" charset="-120"/>
              </a:rPr>
              <a:t>Fix glitches in the prompt</a:t>
            </a:r>
            <a:endParaRPr lang="en-US" sz="1800" dirty="0"/>
          </a:p>
        </p:txBody>
      </p:sp>
      <p:sp>
        <p:nvSpPr>
          <p:cNvPr id="9" name="Text 7"/>
          <p:cNvSpPr/>
          <p:nvPr/>
        </p:nvSpPr>
        <p:spPr>
          <a:xfrm>
            <a:off x="6096000" y="2697262"/>
            <a:ext cx="544169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5AE"/>
                </a:solidFill>
                <a:latin typeface="DM Sans" pitchFamily="34" charset="0"/>
                <a:ea typeface="DM Sans" pitchFamily="34" charset="-122"/>
                <a:cs typeface="DM Sans" pitchFamily="34" charset="-120"/>
              </a:rPr>
              <a:t>The deer's legs glitched. One slow animal in side profile plus a new seed fixed it.</a:t>
            </a:r>
            <a:endParaRPr lang="en-US" sz="1400" dirty="0"/>
          </a:p>
        </p:txBody>
      </p:sp>
      <p:sp>
        <p:nvSpPr>
          <p:cNvPr id="10" name="Shape 8"/>
          <p:cNvSpPr/>
          <p:nvPr/>
        </p:nvSpPr>
        <p:spPr>
          <a:xfrm>
            <a:off x="812800" y="3201293"/>
            <a:ext cx="5283200" cy="0"/>
          </a:xfrm>
          <a:prstGeom prst="line">
            <a:avLst/>
          </a:prstGeom>
          <a:noFill/>
          <a:ln w="12700">
            <a:solidFill>
              <a:srgbClr val="3A4540"/>
            </a:solidFill>
            <a:prstDash val="solid"/>
          </a:ln>
        </p:spPr>
        <p:txBody>
          <a:bodyPr/>
          <a:lstStyle/>
          <a:p>
            <a:endParaRPr lang="en-NL"/>
          </a:p>
        </p:txBody>
      </p:sp>
      <p:sp>
        <p:nvSpPr>
          <p:cNvPr id="11" name="Text 9"/>
          <p:cNvSpPr/>
          <p:nvPr/>
        </p:nvSpPr>
        <p:spPr>
          <a:xfrm>
            <a:off x="812800" y="3385443"/>
            <a:ext cx="544169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DC891"/>
                </a:solidFill>
                <a:latin typeface="DM Sans" pitchFamily="34" charset="0"/>
                <a:ea typeface="DM Sans" pitchFamily="34" charset="-122"/>
                <a:cs typeface="DM Sans" pitchFamily="34" charset="-120"/>
              </a:rPr>
              <a:t>Draft fast, render once</a:t>
            </a:r>
            <a:endParaRPr lang="en-US" sz="1800" dirty="0"/>
          </a:p>
        </p:txBody>
      </p:sp>
      <p:sp>
        <p:nvSpPr>
          <p:cNvPr id="12" name="Text 10"/>
          <p:cNvSpPr/>
          <p:nvPr/>
        </p:nvSpPr>
        <p:spPr>
          <a:xfrm>
            <a:off x="812800" y="3735884"/>
            <a:ext cx="544169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5AE"/>
                </a:solidFill>
                <a:latin typeface="DM Sans" pitchFamily="34" charset="0"/>
                <a:ea typeface="DM Sans" pitchFamily="34" charset="-122"/>
                <a:cs typeface="DM Sans" pitchFamily="34" charset="-120"/>
              </a:rPr>
              <a:t>Turbo drafts for every idea, full quality only for the final shots.</a:t>
            </a:r>
            <a:endParaRPr lang="en-US" sz="1400" dirty="0"/>
          </a:p>
        </p:txBody>
      </p:sp>
      <p:sp>
        <p:nvSpPr>
          <p:cNvPr id="13" name="Shape 11"/>
          <p:cNvSpPr/>
          <p:nvPr/>
        </p:nvSpPr>
        <p:spPr>
          <a:xfrm>
            <a:off x="6096000" y="3201293"/>
            <a:ext cx="5283200" cy="0"/>
          </a:xfrm>
          <a:prstGeom prst="line">
            <a:avLst/>
          </a:prstGeom>
          <a:noFill/>
          <a:ln w="12700">
            <a:solidFill>
              <a:srgbClr val="3A4540"/>
            </a:solidFill>
            <a:prstDash val="solid"/>
          </a:ln>
        </p:spPr>
        <p:txBody>
          <a:bodyPr/>
          <a:lstStyle/>
          <a:p>
            <a:endParaRPr lang="en-NL"/>
          </a:p>
        </p:txBody>
      </p:sp>
      <p:sp>
        <p:nvSpPr>
          <p:cNvPr id="14" name="Text 12"/>
          <p:cNvSpPr/>
          <p:nvPr/>
        </p:nvSpPr>
        <p:spPr>
          <a:xfrm>
            <a:off x="6096000" y="3385443"/>
            <a:ext cx="544169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DC891"/>
                </a:solidFill>
                <a:latin typeface="DM Sans" pitchFamily="34" charset="0"/>
                <a:ea typeface="DM Sans" pitchFamily="34" charset="-122"/>
                <a:cs typeface="DM Sans" pitchFamily="34" charset="-120"/>
              </a:rPr>
              <a:t>Seeds make it reproducible</a:t>
            </a:r>
            <a:endParaRPr lang="en-US" sz="1800" dirty="0"/>
          </a:p>
        </p:txBody>
      </p:sp>
      <p:sp>
        <p:nvSpPr>
          <p:cNvPr id="15" name="Text 13"/>
          <p:cNvSpPr/>
          <p:nvPr/>
        </p:nvSpPr>
        <p:spPr>
          <a:xfrm>
            <a:off x="6096000" y="3735884"/>
            <a:ext cx="544169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5AE"/>
                </a:solidFill>
                <a:latin typeface="DM Sans" pitchFamily="34" charset="0"/>
                <a:ea typeface="DM Sans" pitchFamily="34" charset="-122"/>
                <a:cs typeface="DM Sans" pitchFamily="34" charset="-120"/>
              </a:rPr>
              <a:t>One document with every prompt, seed and setting lets anyone regenerate the film.</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200" dirty="0">
                <a:solidFill>
                  <a:srgbClr val="2F6B3D"/>
                </a:solidFill>
                <a:latin typeface="DM Sans" pitchFamily="34" charset="0"/>
                <a:ea typeface="DM Sans" pitchFamily="34" charset="-122"/>
                <a:cs typeface="DM Sans" pitchFamily="34" charset="-120"/>
              </a:rPr>
              <a:t>SOURCES</a:t>
            </a:r>
            <a:endParaRPr lang="en-US" sz="1300" dirty="0"/>
          </a:p>
        </p:txBody>
      </p:sp>
      <p:sp>
        <p:nvSpPr>
          <p:cNvPr id="3" name="Text 1"/>
          <p:cNvSpPr>
            <a:spLocks noGrp="1"/>
          </p:cNvSpPr>
          <p:nvPr>
            <p:ph type="title"/>
          </p:nvPr>
        </p:nvSpPr>
        <p:spPr>
          <a:xfrm>
            <a:off x="812800" y="13486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41A16"/>
                </a:solidFill>
                <a:latin typeface="Instrument Serif" pitchFamily="18" charset="0"/>
                <a:ea typeface="Instrument Serif" pitchFamily="18" charset="-122"/>
                <a:cs typeface="Instrument Serif" pitchFamily="18" charset="-120"/>
              </a:rPr>
              <a:t>Where our facts come from</a:t>
            </a:r>
            <a:endParaRPr lang="en-US" sz="3600" dirty="0"/>
          </a:p>
        </p:txBody>
      </p:sp>
      <p:sp>
        <p:nvSpPr>
          <p:cNvPr id="4" name="Text 2"/>
          <p:cNvSpPr/>
          <p:nvPr/>
        </p:nvSpPr>
        <p:spPr>
          <a:xfrm>
            <a:off x="812800" y="2156321"/>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1A16"/>
                </a:solidFill>
                <a:latin typeface="DM Sans" pitchFamily="34" charset="0"/>
                <a:ea typeface="DM Sans" pitchFamily="34" charset="-122"/>
                <a:cs typeface="DM Sans" pitchFamily="34" charset="-120"/>
              </a:rPr>
              <a:t>Tucker, M. A. et al. (2023). Behavioral responses of terrestrial mammals to COVID-19 lockdowns. </a:t>
            </a:r>
            <a:r>
              <a:rPr lang="en-US" sz="1400" i="1" dirty="0">
                <a:solidFill>
                  <a:srgbClr val="141A16"/>
                </a:solidFill>
                <a:latin typeface="DM Sans" pitchFamily="34" charset="0"/>
                <a:ea typeface="DM Sans" pitchFamily="34" charset="-122"/>
                <a:cs typeface="DM Sans" pitchFamily="34" charset="-120"/>
              </a:rPr>
              <a:t>Science</a:t>
            </a:r>
            <a:r>
              <a:rPr lang="en-US" sz="1400" dirty="0">
                <a:solidFill>
                  <a:srgbClr val="141A16"/>
                </a:solidFill>
                <a:latin typeface="DM Sans" pitchFamily="34" charset="0"/>
                <a:ea typeface="DM Sans" pitchFamily="34" charset="-122"/>
                <a:cs typeface="DM Sans" pitchFamily="34" charset="-120"/>
              </a:rPr>
              <a:t>. </a:t>
            </a:r>
            <a:r>
              <a:rPr lang="en-US" sz="1400" u="sng" dirty="0">
                <a:solidFill>
                  <a:srgbClr val="141A16"/>
                </a:solidFill>
                <a:latin typeface="DM Sans" pitchFamily="34" charset="0"/>
                <a:ea typeface="DM Sans" pitchFamily="34" charset="-122"/>
                <a:cs typeface="DM Sans" pitchFamily="34" charset="-120"/>
                <a:hlinkClick r:id="rId3">
                  <a:extLst>
                    <a:ext uri="{A12FA001-AC4F-418D-AE19-62706E023703}">
                      <ahyp:hlinkClr xmlns:ahyp="http://schemas.microsoft.com/office/drawing/2018/hyperlinkcolor" val="tx"/>
                    </a:ext>
                  </a:extLst>
                </a:hlinkClick>
              </a:rPr>
              <a:t>doi.org/10.1126/science.abo6499</a:t>
            </a:r>
            <a:endParaRPr lang="en-US" sz="1400" dirty="0"/>
          </a:p>
        </p:txBody>
      </p:sp>
      <p:sp>
        <p:nvSpPr>
          <p:cNvPr id="5" name="Text 3"/>
          <p:cNvSpPr/>
          <p:nvPr/>
        </p:nvSpPr>
        <p:spPr>
          <a:xfrm>
            <a:off x="812800" y="2831802"/>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1A16"/>
                </a:solidFill>
                <a:latin typeface="DM Sans" pitchFamily="34" charset="0"/>
                <a:ea typeface="DM Sans" pitchFamily="34" charset="-122"/>
                <a:cs typeface="DM Sans" pitchFamily="34" charset="-120"/>
              </a:rPr>
              <a:t>Fiske, A. et al. (2024). Don't waste the crisis: the COVID-19 Anthropause as an experiment for rethinking human–environment relations. </a:t>
            </a:r>
            <a:r>
              <a:rPr lang="en-US" sz="1400" i="1" dirty="0">
                <a:solidFill>
                  <a:srgbClr val="141A16"/>
                </a:solidFill>
                <a:latin typeface="DM Sans" pitchFamily="34" charset="0"/>
                <a:ea typeface="DM Sans" pitchFamily="34" charset="-122"/>
                <a:cs typeface="DM Sans" pitchFamily="34" charset="-120"/>
              </a:rPr>
              <a:t>Environment and Planning E</a:t>
            </a:r>
            <a:r>
              <a:rPr lang="en-US" sz="1400" dirty="0">
                <a:solidFill>
                  <a:srgbClr val="141A16"/>
                </a:solidFill>
                <a:latin typeface="DM Sans" pitchFamily="34" charset="0"/>
                <a:ea typeface="DM Sans" pitchFamily="34" charset="-122"/>
                <a:cs typeface="DM Sans" pitchFamily="34" charset="-120"/>
              </a:rPr>
              <a:t>. </a:t>
            </a:r>
            <a:r>
              <a:rPr lang="en-US" sz="1400" u="sng" dirty="0">
                <a:solidFill>
                  <a:srgbClr val="141A16"/>
                </a:solidFill>
                <a:latin typeface="DM Sans" pitchFamily="34" charset="0"/>
                <a:ea typeface="DM Sans" pitchFamily="34" charset="-122"/>
                <a:cs typeface="DM Sans" pitchFamily="34" charset="-120"/>
                <a:hlinkClick r:id="rId4">
                  <a:extLst>
                    <a:ext uri="{A12FA001-AC4F-418D-AE19-62706E023703}">
                      <ahyp:hlinkClr xmlns:ahyp="http://schemas.microsoft.com/office/drawing/2018/hyperlinkcolor" val="tx"/>
                    </a:ext>
                  </a:extLst>
                </a:hlinkClick>
              </a:rPr>
              <a:t>doi.org/10.1177/25148486231221017</a:t>
            </a:r>
            <a:endParaRPr lang="en-US" sz="1400" dirty="0"/>
          </a:p>
        </p:txBody>
      </p:sp>
      <p:sp>
        <p:nvSpPr>
          <p:cNvPr id="6" name="Text 4"/>
          <p:cNvSpPr/>
          <p:nvPr/>
        </p:nvSpPr>
        <p:spPr>
          <a:xfrm>
            <a:off x="812800" y="3507284"/>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1A16"/>
                </a:solidFill>
                <a:latin typeface="DM Sans" pitchFamily="34" charset="0"/>
                <a:ea typeface="DM Sans" pitchFamily="34" charset="-122"/>
                <a:cs typeface="DM Sans" pitchFamily="34" charset="-120"/>
              </a:rPr>
              <a:t>United Nations. Goal 13: targets and indicators. </a:t>
            </a:r>
            <a:r>
              <a:rPr lang="en-US" sz="1400" u="sng" dirty="0">
                <a:solidFill>
                  <a:srgbClr val="141A16"/>
                </a:solidFill>
                <a:latin typeface="DM Sans" pitchFamily="34" charset="0"/>
                <a:ea typeface="DM Sans" pitchFamily="34" charset="-122"/>
                <a:cs typeface="DM Sans" pitchFamily="34" charset="-120"/>
                <a:hlinkClick r:id="rId5">
                  <a:extLst>
                    <a:ext uri="{A12FA001-AC4F-418D-AE19-62706E023703}">
                      <ahyp:hlinkClr xmlns:ahyp="http://schemas.microsoft.com/office/drawing/2018/hyperlinkcolor" val="tx"/>
                    </a:ext>
                  </a:extLst>
                </a:hlinkClick>
              </a:rPr>
              <a:t>sdgs.un.org/goals/goal13</a:t>
            </a:r>
            <a:endParaRPr lang="en-US" sz="1400" dirty="0"/>
          </a:p>
        </p:txBody>
      </p:sp>
      <p:sp>
        <p:nvSpPr>
          <p:cNvPr id="7" name="Text 5"/>
          <p:cNvSpPr/>
          <p:nvPr/>
        </p:nvSpPr>
        <p:spPr>
          <a:xfrm>
            <a:off x="812800" y="3933924"/>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1A16"/>
                </a:solidFill>
                <a:latin typeface="DM Sans" pitchFamily="34" charset="0"/>
                <a:ea typeface="DM Sans" pitchFamily="34" charset="-122"/>
                <a:cs typeface="DM Sans" pitchFamily="34" charset="-120"/>
              </a:rPr>
              <a:t>European Environment Agency. Total net greenhouse gas emission trends and projections in Europe. </a:t>
            </a:r>
            <a:r>
              <a:rPr lang="en-US" sz="1400" u="sng" dirty="0">
                <a:solidFill>
                  <a:srgbClr val="141A16"/>
                </a:solidFill>
                <a:latin typeface="DM Sans" pitchFamily="34" charset="0"/>
                <a:ea typeface="DM Sans" pitchFamily="34" charset="-122"/>
                <a:cs typeface="DM Sans" pitchFamily="34" charset="-120"/>
                <a:hlinkClick r:id="rId6">
                  <a:extLst>
                    <a:ext uri="{A12FA001-AC4F-418D-AE19-62706E023703}">
                      <ahyp:hlinkClr xmlns:ahyp="http://schemas.microsoft.com/office/drawing/2018/hyperlinkcolor" val="tx"/>
                    </a:ext>
                  </a:extLst>
                </a:hlinkClick>
              </a:rPr>
              <a:t>eea.europa.eu</a:t>
            </a:r>
            <a:endParaRPr lang="en-US" sz="1400" dirty="0"/>
          </a:p>
        </p:txBody>
      </p:sp>
      <p:sp>
        <p:nvSpPr>
          <p:cNvPr id="8" name="Text 6"/>
          <p:cNvSpPr/>
          <p:nvPr/>
        </p:nvSpPr>
        <p:spPr>
          <a:xfrm>
            <a:off x="812800" y="4360565"/>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1A16"/>
                </a:solidFill>
                <a:latin typeface="DM Sans" pitchFamily="34" charset="0"/>
                <a:ea typeface="DM Sans" pitchFamily="34" charset="-122"/>
                <a:cs typeface="DM Sans" pitchFamily="34" charset="-120"/>
              </a:rPr>
              <a:t>European Commission. European Climate Law. </a:t>
            </a:r>
            <a:r>
              <a:rPr lang="en-US" sz="1400" u="sng" dirty="0">
                <a:solidFill>
                  <a:srgbClr val="141A16"/>
                </a:solidFill>
                <a:latin typeface="DM Sans" pitchFamily="34" charset="0"/>
                <a:ea typeface="DM Sans" pitchFamily="34" charset="-122"/>
                <a:cs typeface="DM Sans" pitchFamily="34" charset="-120"/>
                <a:hlinkClick r:id="rId7">
                  <a:extLst>
                    <a:ext uri="{A12FA001-AC4F-418D-AE19-62706E023703}">
                      <ahyp:hlinkClr xmlns:ahyp="http://schemas.microsoft.com/office/drawing/2018/hyperlinkcolor" val="tx"/>
                    </a:ext>
                  </a:extLst>
                </a:hlinkClick>
              </a:rPr>
              <a:t>climate.ec.europa.eu</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61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740620"/>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0" i="0" dirty="0">
                <a:solidFill>
                  <a:srgbClr val="EEEBE2"/>
                </a:solidFill>
                <a:latin typeface="Instrument Serif" pitchFamily="18" charset="0"/>
                <a:ea typeface="Instrument Serif" pitchFamily="18" charset="-122"/>
                <a:cs typeface="Instrument Serif" pitchFamily="18" charset="-120"/>
              </a:rPr>
              <a:t>And what are we waiting for now?</a:t>
            </a:r>
            <a:endParaRPr lang="en-US" sz="6000" dirty="0"/>
          </a:p>
        </p:txBody>
      </p:sp>
      <p:sp>
        <p:nvSpPr>
          <p:cNvPr id="3" name="Text 1"/>
          <p:cNvSpPr/>
          <p:nvPr/>
        </p:nvSpPr>
        <p:spPr>
          <a:xfrm>
            <a:off x="812800" y="383282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9B5AE"/>
                </a:solidFill>
                <a:latin typeface="DM Sans" pitchFamily="34" charset="0"/>
                <a:ea typeface="DM Sans" pitchFamily="34" charset="-122"/>
                <a:cs typeface="DM Sans"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The Pause – Hackathon 4">
  <a:themeElements>
    <a:clrScheme name="The Pause – Hackathon 4">
      <a:dk1>
        <a:srgbClr val="111613"/>
      </a:dk1>
      <a:lt1>
        <a:srgbClr val="EEEBE2"/>
      </a:lt1>
      <a:dk2>
        <a:srgbClr val="272B28"/>
      </a:dk2>
      <a:lt2>
        <a:srgbClr val="B7B6AE"/>
      </a:lt2>
      <a:accent1>
        <a:srgbClr val="8DC891"/>
      </a:accent1>
      <a:accent2>
        <a:srgbClr val="2F6B3D"/>
      </a:accent2>
      <a:accent3>
        <a:srgbClr val="9A4A1C"/>
      </a:accent3>
      <a:accent4>
        <a:srgbClr val="E3A857"/>
      </a:accent4>
      <a:accent5>
        <a:srgbClr val="A9B5AE"/>
      </a:accent5>
      <a:accent6>
        <a:srgbClr val="46524B"/>
      </a:accent6>
      <a:hlink>
        <a:srgbClr val="0563C1"/>
      </a:hlink>
      <a:folHlink>
        <a:srgbClr val="954F72"/>
      </a:folHlink>
    </a:clrScheme>
    <a:fontScheme name="The Pause – Hackathon 4">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1744</Words>
  <Application>Microsoft Office PowerPoint</Application>
  <PresentationFormat>Widescreen</PresentationFormat>
  <Paragraphs>135</Paragraphs>
  <Slides>12</Slides>
  <Notes>12</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DM Sans</vt:lpstr>
      <vt:lpstr>Instrument Serif</vt:lpstr>
      <vt:lpstr>The Pause – Hackathon 4</vt:lpstr>
      <vt:lpstr>The Pause</vt:lpstr>
      <vt:lpstr>First, the film</vt:lpstr>
      <vt:lpstr>In 2020 our pressure on nature dropped, and then it came back</vt:lpstr>
      <vt:lpstr>Europe's 2030 goal is still a gap</vt:lpstr>
      <vt:lpstr>For people who remember 2020 only as loss</vt:lpstr>
      <vt:lpstr>Three acts on one European street</vt:lpstr>
      <vt:lpstr>Every frame and every word comes out of ComfyUI</vt:lpstr>
      <vt:lpstr>Why 35 seconds can reach them</vt:lpstr>
      <vt:lpstr>Risks of this film, and what we did</vt:lpstr>
      <vt:lpstr>Prompting video is directing</vt:lpstr>
      <vt:lpstr>Where our facts come from</vt:lpstr>
      <vt:lpstr>And what are we waiting for now?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Pause – Hackathon 4</dc:title>
  <dc:subject/>
  <dc:creator/>
  <cp:lastModifiedBy>Sam Kempers (23102241)</cp:lastModifiedBy>
  <cp:revision>5</cp:revision>
  <dcterms:created xsi:type="dcterms:W3CDTF">2026-10-01T20:58:21Z</dcterms:created>
  <dcterms:modified xsi:type="dcterms:W3CDTF">2026-10-02T08:39:52Z</dcterms:modified>
</cp:coreProperties>
</file>